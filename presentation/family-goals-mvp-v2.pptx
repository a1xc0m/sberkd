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b0faa0d0e54759" /><Relationship Type="http://schemas.openxmlformats.org/officeDocument/2006/relationships/extended-properties" Target="/docProps/app.xml" Id="R9e632ffc2a544020" /><Relationship Type="http://schemas.openxmlformats.org/officeDocument/2006/relationships/officeDocument" Target="/ppt/presentation.xml" Id="Rb065dd92b60943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5185d74f0f4f23"/>
  </p:sldMasterIdLst>
  <p:notesMasterIdLst>
    <p:notesMasterId xmlns:r="http://schemas.openxmlformats.org/officeDocument/2006/relationships" r:id="Raadb821ce1a448ff"/>
  </p:notesMasterIdLst>
  <p:sldIdLst>
    <p:sldId xmlns:r="http://schemas.openxmlformats.org/officeDocument/2006/relationships" id="256" r:id="R21fa0932459c4468"/>
    <p:sldId xmlns:r="http://schemas.openxmlformats.org/officeDocument/2006/relationships" id="257" r:id="R92459709c1d94b35"/>
    <p:sldId xmlns:r="http://schemas.openxmlformats.org/officeDocument/2006/relationships" id="258" r:id="R6bcab0f19f1a465d"/>
    <p:sldId xmlns:r="http://schemas.openxmlformats.org/officeDocument/2006/relationships" id="259" r:id="Rd9d94f2d622a46a5"/>
    <p:sldId xmlns:r="http://schemas.openxmlformats.org/officeDocument/2006/relationships" id="260" r:id="Re69b2bc0d239412d"/>
    <p:sldId xmlns:r="http://schemas.openxmlformats.org/officeDocument/2006/relationships" id="261" r:id="R24a470925fd04115"/>
    <p:sldId xmlns:r="http://schemas.openxmlformats.org/officeDocument/2006/relationships" id="262" r:id="Rcca17805e89b4e9a"/>
    <p:sldId xmlns:r="http://schemas.openxmlformats.org/officeDocument/2006/relationships" id="263" r:id="R3ec940ec7be34e50"/>
    <p:sldId xmlns:r="http://schemas.openxmlformats.org/officeDocument/2006/relationships" id="264" r:id="Rdd61068728ec48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6c3af22cd64dec" /><Relationship Type="http://schemas.openxmlformats.org/officeDocument/2006/relationships/slideMaster" Target="/ppt/slideMasters/slideMaster1.xml" Id="Rf05185d74f0f4f23" /><Relationship Type="http://schemas.openxmlformats.org/officeDocument/2006/relationships/notesMaster" Target="/ppt/notesMasters/notesMaster1.xml" Id="Raadb821ce1a448ff" /><Relationship Type="http://schemas.openxmlformats.org/officeDocument/2006/relationships/presProps" Target="/ppt/presProps.xml" Id="Reeb23b1a04f5411c" /><Relationship Type="http://schemas.openxmlformats.org/officeDocument/2006/relationships/tableStyles" Target="/ppt/tableStyles.xml" Id="Ree2c89a826e04253" /><Relationship Type="http://schemas.openxmlformats.org/officeDocument/2006/relationships/slide" Target="/ppt/slides/slide1.xml" Id="R21fa0932459c4468" /><Relationship Type="http://schemas.openxmlformats.org/officeDocument/2006/relationships/slide" Target="/ppt/slides/slide2.xml" Id="R92459709c1d94b35" /><Relationship Type="http://schemas.openxmlformats.org/officeDocument/2006/relationships/slide" Target="/ppt/slides/slide3.xml" Id="R6bcab0f19f1a465d" /><Relationship Type="http://schemas.openxmlformats.org/officeDocument/2006/relationships/slide" Target="/ppt/slides/slide4.xml" Id="Rd9d94f2d622a46a5" /><Relationship Type="http://schemas.openxmlformats.org/officeDocument/2006/relationships/slide" Target="/ppt/slides/slide5.xml" Id="Re69b2bc0d239412d" /><Relationship Type="http://schemas.openxmlformats.org/officeDocument/2006/relationships/slide" Target="/ppt/slides/slide6.xml" Id="R24a470925fd04115" /><Relationship Type="http://schemas.openxmlformats.org/officeDocument/2006/relationships/slide" Target="/ppt/slides/slide7.xml" Id="Rcca17805e89b4e9a" /><Relationship Type="http://schemas.openxmlformats.org/officeDocument/2006/relationships/slide" Target="/ppt/slides/slide8.xml" Id="R3ec940ec7be34e50" /><Relationship Type="http://schemas.openxmlformats.org/officeDocument/2006/relationships/slide" Target="/ppt/slides/slide9.xml" Id="Rdd61068728ec48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2b1709e9d740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3238551c8e462c" /><Relationship Type="http://schemas.openxmlformats.org/officeDocument/2006/relationships/notesMaster" Target="/ppt/notesMasters/notesMaster1.xml" Id="Ra656b4b9eb6b4d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44a138a8d94d91" /><Relationship Type="http://schemas.openxmlformats.org/officeDocument/2006/relationships/notesMaster" Target="/ppt/notesMasters/notesMaster1.xml" Id="R2acdcf364f664c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57910e4f8d4fa4" /><Relationship Type="http://schemas.openxmlformats.org/officeDocument/2006/relationships/notesMaster" Target="/ppt/notesMasters/notesMaster1.xml" Id="Rf4e91672d4554b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cdef43daa84fe1" /><Relationship Type="http://schemas.openxmlformats.org/officeDocument/2006/relationships/notesMaster" Target="/ppt/notesMasters/notesMaster1.xml" Id="Rdd12b1b9d02542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a2cee4813045c8" /><Relationship Type="http://schemas.openxmlformats.org/officeDocument/2006/relationships/notesMaster" Target="/ppt/notesMasters/notesMaster1.xml" Id="R43aaa3531afb47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1a91e05fd5462e" /><Relationship Type="http://schemas.openxmlformats.org/officeDocument/2006/relationships/notesMaster" Target="/ppt/notesMasters/notesMaster1.xml" Id="R8338eea5b49f43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ae29ea02df47ba" /><Relationship Type="http://schemas.openxmlformats.org/officeDocument/2006/relationships/notesMaster" Target="/ppt/notesMasters/notesMaster1.xml" Id="R1aaafe2542f64f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b3eeab6a884e72" /><Relationship Type="http://schemas.openxmlformats.org/officeDocument/2006/relationships/notesMaster" Target="/ppt/notesMasters/notesMaster1.xml" Id="Rbd9843df36b942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c24c8016f94e15" /><Relationship Type="http://schemas.openxmlformats.org/officeDocument/2006/relationships/notesMaster" Target="/ppt/notesMasters/notesMaster1.xml" Id="R26b6fafa781644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Продукт для детей 6–13 лет и подростков 14–17 лет. Ребёнок делает полезные дела, копит игровые баллы и выбирает подарок. Взрослый подтверждает результат и отдельно решает вопрос покупки.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Сегодня желание ребёнка, договорённости о делах и покупка часто разрознены. Общий сценарий даёт ребёнку видимый прогресс, а взрослому сохраняет контроль.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Пять шагов замкнутого цикла. Родственники могут создавать задания в пределах лимитов. Финальное подтверждение выполнения остаётся за родителем. Просьба о подарке не оформляет заказ.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Два интерфейса и два названия игровых баллов. Бизнес-логика общая. Подростковый сценарий включает семейную привязку; событие прослушивания не заменяет родительского подтверждения.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Прототип позволяет переключаться между ребёнком, подростком, родителем и родственником. Есть игровой вклад и семейный лимит. Демо-покупка не списывает деньги.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Игровой вклад не является банковским вкладом. Примеры процентов из концепции не утверждены как тариф. ИИ не гарантирует подарок и не принимает решения за взрослого.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Котиксы и Сберсы нельзя вывести, перевести или обналичить по текущей концепции. Покупателем является взрослый. Юридические и налоговые утверждения не считаются подтверждёнными до заключения профильных команд.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Пилот: сначала тест прототипа, затем ограниченный запуск базового цикла. Числовые пороги успеха должны опираться на базовые данные, а не быть придуманы заранее.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Есть описанная механика, рабочий демонстрационный MVP и план проверки гипотез. Нужна совместная проработка продуктовой, юридической и технической команд.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5f5b2dd67147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fbf7a8c1704bd0" /><Relationship Type="http://schemas.openxmlformats.org/officeDocument/2006/relationships/slideLayout" Target="/ppt/slideLayouts/slideLayout1.xml" Id="Rdcb60cae7f8441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b60cae7f8441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c1bf04b104a11" /><Relationship Type="http://schemas.openxmlformats.org/officeDocument/2006/relationships/image" Target="/ppt/media/image.png" Id="Re6a14dd7ff474847" /><Relationship Type="http://schemas.openxmlformats.org/officeDocument/2006/relationships/notesSlide" Target="/ppt/notesSlides/notesSlide1.xml" Id="R3f71cc7d93e046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6de9023464b07" /><Relationship Type="http://schemas.openxmlformats.org/officeDocument/2006/relationships/image" Target="/ppt/media/image2.png" Id="R3ff443827f554399" /><Relationship Type="http://schemas.openxmlformats.org/officeDocument/2006/relationships/notesSlide" Target="/ppt/notesSlides/notesSlide2.xml" Id="R9d3d7059ba624d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f532f376847c8" /><Relationship Type="http://schemas.openxmlformats.org/officeDocument/2006/relationships/notesSlide" Target="/ppt/notesSlides/notesSlide3.xml" Id="Reef2ff6bad3d44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66028d81c4af2" /><Relationship Type="http://schemas.openxmlformats.org/officeDocument/2006/relationships/notesSlide" Target="/ppt/notesSlides/notesSlide4.xml" Id="R109ce834549645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8b65e39e74cc2" /><Relationship Type="http://schemas.openxmlformats.org/officeDocument/2006/relationships/image" Target="/ppt/media/image3.png" Id="Rc2626009cf8f488e" /><Relationship Type="http://schemas.openxmlformats.org/officeDocument/2006/relationships/notesSlide" Target="/ppt/notesSlides/notesSlide5.xml" Id="R9d1804575d7744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2b5d810b74faf" /><Relationship Type="http://schemas.openxmlformats.org/officeDocument/2006/relationships/notesSlide" Target="/ppt/notesSlides/notesSlide6.xml" Id="Rd0ae2b4ce82a43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82428be994262" /><Relationship Type="http://schemas.openxmlformats.org/officeDocument/2006/relationships/notesSlide" Target="/ppt/notesSlides/notesSlide7.xml" Id="R315efa605b5243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ac2616f2f49b3" /><Relationship Type="http://schemas.openxmlformats.org/officeDocument/2006/relationships/notesSlide" Target="/ppt/notesSlides/notesSlide8.xml" Id="R3e3a979f59994c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458782154470e" /><Relationship Type="http://schemas.openxmlformats.org/officeDocument/2006/relationships/notesSlide" Target="/ppt/notesSlides/notesSlide9.xml" Id="R428c0ac045e246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3E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14dd7ff47484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25B42-637D-4502-8409-C527C934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Семейный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конструктор целей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BE2C8-B401-4B15-A748-C99879B5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EFC7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EFC74"/>
                </a:solidFill>
                <a:latin typeface="Arial"/>
                <a:ea typeface="Arial"/>
                <a:cs typeface="Arial"/>
              </a:rPr>
              <a:t>Котиксы &amp; Сберсы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77D44-F86C-4F09-A327-16DF8BE7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48325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Демонстрационный MVP семейного продукта</a:t>
            </a:r>
          </a:p>
        </p:txBody>
      </p:sp>
    </p:spTree>
    <p:extLst>
      <p:ext uri="{BB962C8B-B14F-4D97-AF65-F5344CB8AC3E}">
        <p14:creationId xmlns:p14="http://schemas.microsoft.com/office/powerpoint/2010/main" val="16919973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66032-4F4F-4571-AAE4-22DAFA36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8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82A"/>
                </a:solidFill>
                <a:latin typeface="Arial"/>
                <a:ea typeface="Arial"/>
                <a:cs typeface="Arial"/>
              </a:rPr>
              <a:t>Общий маршрут к подарку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D0658-19FF-4275-A9D9-D4991D47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A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59917-6467-4471-816D-26D1BE8F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85925"/>
            <a:ext cx="5476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38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382A"/>
                </a:solidFill>
                <a:latin typeface="Arial"/>
                <a:ea typeface="Arial"/>
                <a:cs typeface="Arial"/>
              </a:rPr>
              <a:t>Ребёнку нужен понятный путь</a:t>
            </a:r>
          </a:p>
          <a:p xmlns:a="http://schemas.openxmlformats.org/drawingml/2006/main">
            <a:pPr>
              <a:defRPr sz="2400" b="1">
                <a:solidFill>
                  <a:srgbClr val="1638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382A"/>
                </a:solidFill>
                <a:latin typeface="Arial"/>
                <a:ea typeface="Arial"/>
                <a:cs typeface="Arial"/>
              </a:rPr>
              <a:t>к своей цели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1CD19B-15B6-4462-8B5E-47A82CA9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52800"/>
            <a:ext cx="5476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54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545"/>
                </a:solidFill>
                <a:latin typeface="Arial"/>
                <a:ea typeface="Arial"/>
                <a:cs typeface="Arial"/>
              </a:rPr>
              <a:t>Взрослому нужны правила,</a:t>
            </a:r>
          </a:p>
          <a:p xmlns:a="http://schemas.openxmlformats.org/drawingml/2006/main">
            <a:pPr>
              <a:defRPr sz="2400" b="1">
                <a:solidFill>
                  <a:srgbClr val="08754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545"/>
                </a:solidFill>
                <a:latin typeface="Arial"/>
                <a:ea typeface="Arial"/>
                <a:cs typeface="Arial"/>
              </a:rPr>
              <a:t>контроль и ясный бюджет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C4F67-79A8-41AC-9CC9-1D2C6B70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34000"/>
            <a:ext cx="5286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A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7A6A"/>
                </a:solidFill>
                <a:latin typeface="Arial"/>
                <a:ea typeface="Arial"/>
                <a:cs typeface="Arial"/>
              </a:rPr>
              <a:t>Продукт показывает прогресс ребёнку и оставляет решение о покупке за взрослым.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443827f554399"/>
          <a:srcRect xmlns:a="http://schemas.openxmlformats.org/drawingml/2006/main" l="27527" t="0" r="275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15125" y="0"/>
            <a:ext cx="5476875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1473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F03F27-26CC-4ED4-A896-68A16B90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8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82A"/>
                </a:solidFill>
                <a:latin typeface="Arial"/>
                <a:ea typeface="Arial"/>
                <a:cs typeface="Arial"/>
              </a:rPr>
              <a:t>Как работает продукт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B1A66-5231-4D14-B593-27B21BF5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A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48EA7-B795-40BB-91A5-77DECA68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1000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75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8754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4DA55-7998-4C39-BAEA-68E5BDD4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504950"/>
            <a:ext cx="9382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38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82A"/>
                </a:solidFill>
                <a:latin typeface="Arial"/>
                <a:ea typeface="Arial"/>
                <a:cs typeface="Arial"/>
              </a:rPr>
              <a:t>Взрослый задаёт полезное дело и награду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84069-9D0B-4425-9DEF-03D6560B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9825"/>
            <a:ext cx="1000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75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8754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63E8B-559B-4BAC-B11C-9AC226EA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447925"/>
            <a:ext cx="9382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38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82A"/>
                </a:solidFill>
                <a:latin typeface="Arial"/>
                <a:ea typeface="Arial"/>
                <a:cs typeface="Arial"/>
              </a:rPr>
              <a:t>Ребёнок выполняет, родитель подтверждает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18F0DF-19A2-4CA6-BA5F-4FC0DC71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1000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75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8754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02015-83D8-4EF5-9BCB-B36A2186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90900"/>
            <a:ext cx="9382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38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82A"/>
                </a:solidFill>
                <a:latin typeface="Arial"/>
                <a:ea typeface="Arial"/>
                <a:cs typeface="Arial"/>
              </a:rPr>
              <a:t>Ребёнок выбирает товар, родитель одобряет цель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C2E3E9-6EAF-4DD7-B818-3CA17B4E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1000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75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8754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D28BE-8657-4845-BF97-421F35F3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33875"/>
            <a:ext cx="9382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38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82A"/>
                </a:solidFill>
                <a:latin typeface="Arial"/>
                <a:ea typeface="Arial"/>
                <a:cs typeface="Arial"/>
              </a:rPr>
              <a:t>Игровые баллы копятся, прогресс виден семье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B250B-96B9-484A-9426-EB23B2F4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00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75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8754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FBD563-5C41-4D22-A2E9-6E594917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76850"/>
            <a:ext cx="9382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38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382A"/>
                </a:solidFill>
                <a:latin typeface="Arial"/>
                <a:ea typeface="Arial"/>
                <a:cs typeface="Arial"/>
              </a:rPr>
              <a:t>Взрослый отдельно решает, покупать ли подарок</a:t>
            </a:r>
          </a:p>
        </p:txBody>
      </p:sp>
    </p:spTree>
    <p:extLst>
      <p:ext uri="{BB962C8B-B14F-4D97-AF65-F5344CB8AC3E}">
        <p14:creationId xmlns:p14="http://schemas.microsoft.com/office/powerpoint/2010/main" val="21397472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EA095-8948-42BA-952A-1E1BA899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8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82A"/>
                </a:solidFill>
                <a:latin typeface="Arial"/>
                <a:ea typeface="Arial"/>
                <a:cs typeface="Arial"/>
              </a:rPr>
              <a:t>Два возраста, одна семейная логика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458E8-DCF0-476E-A00F-AFE79668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A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5F4BD-DE42-4513-A492-AF74C35C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4307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087545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87545"/>
                </a:solidFill>
                <a:latin typeface="Arial"/>
                <a:ea typeface="Arial"/>
                <a:cs typeface="Arial"/>
              </a:rPr>
              <a:t>6–13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16FD8-5377-4238-BF7D-861C44F2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09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8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382A"/>
                </a:solidFill>
                <a:latin typeface="Arial"/>
                <a:ea typeface="Arial"/>
                <a:cs typeface="Arial"/>
              </a:rPr>
              <a:t>СберKids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DB403-0554-4592-B4A0-F276489C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4762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7A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7A6A"/>
                </a:solidFill>
                <a:latin typeface="Arial"/>
                <a:ea typeface="Arial"/>
                <a:cs typeface="Arial"/>
              </a:rPr>
              <a:t>Котиксы</a:t>
            </a:r>
          </a:p>
          <a:p xmlns:a="http://schemas.openxmlformats.org/drawingml/2006/main">
            <a:pPr>
              <a:defRPr sz="1875" b="0">
                <a:solidFill>
                  <a:srgbClr val="627A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7A6A"/>
                </a:solidFill>
                <a:latin typeface="Arial"/>
                <a:ea typeface="Arial"/>
                <a:cs typeface="Arial"/>
              </a:rPr>
              <a:t>СберКот объясняет простым языком</a:t>
            </a:r>
          </a:p>
          <a:p xmlns:a="http://schemas.openxmlformats.org/drawingml/2006/main">
            <a:pPr>
              <a:defRPr sz="1875" b="0">
                <a:solidFill>
                  <a:srgbClr val="627A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7A6A"/>
                </a:solidFill>
                <a:latin typeface="Arial"/>
                <a:ea typeface="Arial"/>
                <a:cs typeface="Arial"/>
              </a:rPr>
              <a:t>Крупный и наглядный интерфейс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A8DE7-D9B5-4676-B980-9AD6C23B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4307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087545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87545"/>
                </a:solidFill>
                <a:latin typeface="Arial"/>
                <a:ea typeface="Arial"/>
                <a:cs typeface="Arial"/>
              </a:rPr>
              <a:t>14–17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ABC12-31D7-4CEE-A627-7686BA12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09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8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382A"/>
                </a:solidFill>
                <a:latin typeface="Arial"/>
                <a:ea typeface="Arial"/>
                <a:cs typeface="Arial"/>
              </a:rPr>
              <a:t>СберБанк Онлайн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B88CD-C716-41BB-8B0A-77541F50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76625"/>
            <a:ext cx="5048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7A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7A6A"/>
                </a:solidFill>
                <a:latin typeface="Arial"/>
                <a:ea typeface="Arial"/>
                <a:cs typeface="Arial"/>
              </a:rPr>
              <a:t>Сберсы</a:t>
            </a:r>
          </a:p>
          <a:p xmlns:a="http://schemas.openxmlformats.org/drawingml/2006/main">
            <a:pPr>
              <a:defRPr sz="1875" b="0">
                <a:solidFill>
                  <a:srgbClr val="627A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7A6A"/>
                </a:solidFill>
                <a:latin typeface="Arial"/>
                <a:ea typeface="Arial"/>
                <a:cs typeface="Arial"/>
              </a:rPr>
              <a:t>Взрослый тон наставника</a:t>
            </a:r>
          </a:p>
          <a:p xmlns:a="http://schemas.openxmlformats.org/drawingml/2006/main">
            <a:pPr>
              <a:defRPr sz="1875" b="0">
                <a:solidFill>
                  <a:srgbClr val="627A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7A6A"/>
                </a:solidFill>
                <a:latin typeface="Arial"/>
                <a:ea typeface="Arial"/>
                <a:cs typeface="Arial"/>
              </a:rPr>
              <a:t>Задания со СберЗвуком при интеграции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3B9F19-E596-4AE8-8BC5-5734FE4D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38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382A"/>
                </a:solidFill>
                <a:latin typeface="Arial"/>
                <a:ea typeface="Arial"/>
                <a:cs typeface="Arial"/>
              </a:rPr>
              <a:t>Родитель подтверждает выполнение и задаёт правила цели в обоих режимах.</a:t>
            </a:r>
          </a:p>
        </p:txBody>
      </p:sp>
    </p:spTree>
    <p:extLst>
      <p:ext uri="{BB962C8B-B14F-4D97-AF65-F5344CB8AC3E}">
        <p14:creationId xmlns:p14="http://schemas.microsoft.com/office/powerpoint/2010/main" val="14825632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59C30-0133-4AD7-9C38-165D6FA2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8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82A"/>
                </a:solidFill>
                <a:latin typeface="Arial"/>
                <a:ea typeface="Arial"/>
                <a:cs typeface="Arial"/>
              </a:rPr>
              <a:t>Рабочий демонстрационный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0843D-0B28-446C-806B-2C348BCB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A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26009cf8f488e"/>
          <a:stretch xmlns:a="http://schemas.openxmlformats.org/drawingml/2006/main"/>
        </p:blipFill>
        <p:spPr>
          <a:xfrm xmlns:a="http://schemas.openxmlformats.org/drawingml/2006/main">
            <a:off x="590550" y="1476375"/>
            <a:ext cx="7239000" cy="4524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CB20C-8199-48CB-BCF5-F496CFB6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76400"/>
            <a:ext cx="337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54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545"/>
                </a:solidFill>
                <a:latin typeface="Arial"/>
                <a:ea typeface="Arial"/>
                <a:cs typeface="Arial"/>
              </a:rPr>
              <a:t>В прототипе можно: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336E4-0372-4EA5-AE02-60E65BD3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28875"/>
            <a:ext cx="3371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38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82A"/>
                </a:solidFill>
                <a:latin typeface="Arial"/>
                <a:ea typeface="Arial"/>
                <a:cs typeface="Arial"/>
              </a:rPr>
              <a:t>Создать и подтвердить задание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51530-8467-4362-B956-47A2B862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3371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38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82A"/>
                </a:solidFill>
                <a:latin typeface="Arial"/>
                <a:ea typeface="Arial"/>
                <a:cs typeface="Arial"/>
              </a:rPr>
              <a:t>Одобрить цель и следить за прогрессом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72E8A-2E30-4693-B1AF-8F739706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62450"/>
            <a:ext cx="3371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38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82A"/>
                </a:solidFill>
                <a:latin typeface="Arial"/>
                <a:ea typeface="Arial"/>
                <a:cs typeface="Arial"/>
              </a:rPr>
              <a:t>Запросить подарок и завершить демо-сценарий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19C1D-F161-426A-96D2-09DD2D4B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734050"/>
            <a:ext cx="33051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A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A6A"/>
                </a:solidFill>
                <a:latin typeface="Arial"/>
                <a:ea typeface="Arial"/>
                <a:cs typeface="Arial"/>
              </a:rPr>
              <a:t>Локальное сохранение в браузере. Внешние сервисы не подключены.</a:t>
            </a:r>
          </a:p>
        </p:txBody>
      </p:sp>
    </p:spTree>
    <p:extLst>
      <p:ext uri="{BB962C8B-B14F-4D97-AF65-F5344CB8AC3E}">
        <p14:creationId xmlns:p14="http://schemas.microsoft.com/office/powerpoint/2010/main" val="12424222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A531BE-1911-4D0D-87E9-79E8F127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8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82A"/>
                </a:solidFill>
                <a:latin typeface="Arial"/>
                <a:ea typeface="Arial"/>
                <a:cs typeface="Arial"/>
              </a:rPr>
              <a:t>Обучение внутри действия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5050D-47B4-4508-BCDE-42320630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A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BFE67-843A-4B23-AD86-AA7C018A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087545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8754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35D1B-CBE8-4949-AE71-9876E990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9875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8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82A"/>
                </a:solidFill>
                <a:latin typeface="Arial"/>
                <a:ea typeface="Arial"/>
                <a:cs typeface="Arial"/>
              </a:rPr>
              <a:t>Игровой вклад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27B7F-4C41-4046-89C7-3EE47644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3143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7A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7A6A"/>
                </a:solidFill>
                <a:latin typeface="Arial"/>
                <a:ea typeface="Arial"/>
                <a:cs typeface="Arial"/>
              </a:rPr>
              <a:t>Баллы можно отложить, увидеть игровой прирост и вернуть обратно.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7D0900-0576-49E7-963F-48E0BEAF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087545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8754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04A0B-74ED-4E1F-A673-293E4992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09875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8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82A"/>
                </a:solidFill>
                <a:latin typeface="Arial"/>
                <a:ea typeface="Arial"/>
                <a:cs typeface="Arial"/>
              </a:rPr>
              <a:t>ИИ-наставник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371BF6-5C04-4077-B460-86B5423F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33800"/>
            <a:ext cx="3143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7A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7A6A"/>
                </a:solidFill>
                <a:latin typeface="Arial"/>
                <a:ea typeface="Arial"/>
                <a:cs typeface="Arial"/>
              </a:rPr>
              <a:t>План накопления и объяснение процентов в момент выбора цели.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97B21-7D55-4FBE-99F6-4059C13A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09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087545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8754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4088F-65B3-46CC-A7C3-81A8B102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09875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8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82A"/>
                </a:solidFill>
                <a:latin typeface="Arial"/>
                <a:ea typeface="Arial"/>
                <a:cs typeface="Arial"/>
              </a:rPr>
              <a:t>Контент СберЗвука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AC862-CC8A-4BB0-8132-451B73CF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33800"/>
            <a:ext cx="3143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7A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7A6A"/>
                </a:solidFill>
                <a:latin typeface="Arial"/>
                <a:ea typeface="Arial"/>
                <a:cs typeface="Arial"/>
              </a:rPr>
              <a:t>Прослушивание может стать заданием после проверки интеграции.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5C2C79-A7EA-479E-817C-732AB03A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8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82A"/>
                </a:solidFill>
                <a:latin typeface="Arial"/>
                <a:ea typeface="Arial"/>
                <a:cs typeface="Arial"/>
              </a:rPr>
              <a:t>Эти механики расширяют базовый цикл и требуют отдельной проверки в пилоте.</a:t>
            </a:r>
          </a:p>
        </p:txBody>
      </p:sp>
    </p:spTree>
    <p:extLst>
      <p:ext uri="{BB962C8B-B14F-4D97-AF65-F5344CB8AC3E}">
        <p14:creationId xmlns:p14="http://schemas.microsoft.com/office/powerpoint/2010/main" val="8547822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C8BF6-7256-4667-9B90-1E4F1903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8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82A"/>
                </a:solidFill>
                <a:latin typeface="Arial"/>
                <a:ea typeface="Arial"/>
                <a:cs typeface="Arial"/>
              </a:rPr>
              <a:t>Контроль взрослого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E3267-801F-4C31-BAC1-26B0589E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A6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EA250-6F23-49BE-868F-8E9FE5F7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87545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87545"/>
                </a:solidFill>
                <a:latin typeface="Arial"/>
                <a:ea typeface="Arial"/>
                <a:cs typeface="Arial"/>
              </a:rPr>
              <a:t>Игровые баллы не оплачивают товар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3B6E3-6AF7-46B2-8597-DDBE8801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146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38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82A"/>
                </a:solidFill>
                <a:latin typeface="Arial"/>
                <a:ea typeface="Arial"/>
                <a:cs typeface="Arial"/>
              </a:rPr>
              <a:t>Начисление — только после подтверждения родителя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ABDF7-B357-493F-BBF5-2CC5665B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290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38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82A"/>
                </a:solidFill>
                <a:latin typeface="Arial"/>
                <a:ea typeface="Arial"/>
                <a:cs typeface="Arial"/>
              </a:rPr>
              <a:t>Покупка — только после отдельного решения и оплаты взрослым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A444E-9378-423D-8E93-1D980522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3530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A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7A6A"/>
                </a:solidFill>
                <a:latin typeface="Arial"/>
                <a:ea typeface="Arial"/>
                <a:cs typeface="Arial"/>
              </a:rPr>
              <a:t>Правовую модель, детские данные и права родственников нужно проверить до запуска.</a:t>
            </a:r>
          </a:p>
        </p:txBody>
      </p:sp>
    </p:spTree>
    <p:extLst>
      <p:ext uri="{BB962C8B-B14F-4D97-AF65-F5344CB8AC3E}">
        <p14:creationId xmlns:p14="http://schemas.microsoft.com/office/powerpoint/2010/main" val="1262005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9CA01-315F-4F82-8551-CC636293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8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82A"/>
                </a:solidFill>
                <a:latin typeface="Arial"/>
                <a:ea typeface="Arial"/>
                <a:cs typeface="Arial"/>
              </a:rPr>
              <a:t>Пилот и измерение эффекта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8C12A-9FBF-40B6-9D25-EE7F81AD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A6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2E112-A8C6-4C2E-A890-D7741613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54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545"/>
                </a:solidFill>
                <a:latin typeface="Arial"/>
                <a:ea typeface="Arial"/>
                <a:cs typeface="Arial"/>
              </a:rPr>
              <a:t>Сначала проверяем понимание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F566E-7414-4E2D-B917-9F792113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90775"/>
            <a:ext cx="1009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38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82A"/>
                </a:solidFill>
                <a:latin typeface="Arial"/>
                <a:ea typeface="Arial"/>
                <a:cs typeface="Arial"/>
              </a:rPr>
              <a:t>Различают ли семьи игровые баллы и деньги? Понимают ли добровольность покупки?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D4DDBB-92BF-41FB-B8B7-B9FFDB81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480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54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545"/>
                </a:solidFill>
                <a:latin typeface="Arial"/>
                <a:ea typeface="Arial"/>
                <a:cs typeface="Arial"/>
              </a:rPr>
              <a:t>Затем измеряем поведение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1B287-3DE3-42F3-A4DF-8ED865FE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95775"/>
            <a:ext cx="1019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38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82A"/>
                </a:solidFill>
                <a:latin typeface="Arial"/>
                <a:ea typeface="Arial"/>
                <a:cs typeface="Arial"/>
              </a:rPr>
              <a:t>Первый завершённый цикл, время проверки заданий, возвраты к цели, запросы и покупки.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695DC-2A38-4369-9109-F5197534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7626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7A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7A6A"/>
                </a:solidFill>
                <a:latin typeface="Arial"/>
                <a:ea typeface="Arial"/>
                <a:cs typeface="Arial"/>
              </a:rPr>
              <a:t>Оборот Мегамаркета и удержание подростков оцениваем с контрольной группой.</a:t>
            </a:r>
          </a:p>
        </p:txBody>
      </p:sp>
    </p:spTree>
    <p:extLst>
      <p:ext uri="{BB962C8B-B14F-4D97-AF65-F5344CB8AC3E}">
        <p14:creationId xmlns:p14="http://schemas.microsoft.com/office/powerpoint/2010/main" val="6247270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3E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1CCDB-EDF1-47C2-BBBB-15239CD2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Следующий шаг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FEDC8-1080-47CD-8083-F5AC1B17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D1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D1B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50486-D907-44DE-9A20-C7FDC8C2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047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Уточнить правила баллов,</a:t>
            </a:r>
          </a:p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семейную верификацию</a:t>
            </a:r>
          </a:p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 интеграции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768DC-50E6-4D3D-914F-B9D5AA46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10191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EFC7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EFC74"/>
                </a:solidFill>
                <a:latin typeface="Arial"/>
                <a:ea typeface="Arial"/>
                <a:cs typeface="Arial"/>
              </a:rPr>
              <a:t>Затем определить состав ограниченного пилота и критерии успеха.</a:t>
            </a:r>
          </a:p>
        </p:txBody>
      </p:sp>
    </p:spTree>
    <p:extLst>
      <p:ext uri="{BB962C8B-B14F-4D97-AF65-F5344CB8AC3E}">
        <p14:creationId xmlns:p14="http://schemas.microsoft.com/office/powerpoint/2010/main" val="12584199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2026-09-28T17:40:11.1760000Z</dcterms:created>
  <dcterms:modified xsi:type="dcterms:W3CDTF">2026-09-28T17:40:11.1760000Z</dcterms:modified>
</coreProperties>
</file>