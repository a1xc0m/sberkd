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69cf6eef88495f" /><Relationship Type="http://schemas.openxmlformats.org/officeDocument/2006/relationships/extended-properties" Target="/docProps/app.xml" Id="Rfcca03571b1844cb" /><Relationship Type="http://schemas.openxmlformats.org/officeDocument/2006/relationships/officeDocument" Target="/ppt/presentation.xml" Id="R314f97f8160c4e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80e81c6014bbb"/>
  </p:sldMasterIdLst>
  <p:notesMasterIdLst>
    <p:notesMasterId xmlns:r="http://schemas.openxmlformats.org/officeDocument/2006/relationships" r:id="R659beb460d3a4647"/>
  </p:notesMasterIdLst>
  <p:sldIdLst>
    <p:sldId xmlns:r="http://schemas.openxmlformats.org/officeDocument/2006/relationships" id="256" r:id="R0785d37523974f80"/>
    <p:sldId xmlns:r="http://schemas.openxmlformats.org/officeDocument/2006/relationships" id="257" r:id="Rc201c8a72e3b406a"/>
    <p:sldId xmlns:r="http://schemas.openxmlformats.org/officeDocument/2006/relationships" id="258" r:id="R85870d6bf5974268"/>
    <p:sldId xmlns:r="http://schemas.openxmlformats.org/officeDocument/2006/relationships" id="259" r:id="R02c2a31bdf6f4a2c"/>
    <p:sldId xmlns:r="http://schemas.openxmlformats.org/officeDocument/2006/relationships" id="260" r:id="R5c2fac2b55eb47e8"/>
    <p:sldId xmlns:r="http://schemas.openxmlformats.org/officeDocument/2006/relationships" id="261" r:id="R9fe08a4bbe484b54"/>
    <p:sldId xmlns:r="http://schemas.openxmlformats.org/officeDocument/2006/relationships" id="262" r:id="R2e36af42a77e4513"/>
    <p:sldId xmlns:r="http://schemas.openxmlformats.org/officeDocument/2006/relationships" id="263" r:id="R5a22b708b8de464c"/>
    <p:sldId xmlns:r="http://schemas.openxmlformats.org/officeDocument/2006/relationships" id="264" r:id="Rca6602d4d36548c7"/>
    <p:sldId xmlns:r="http://schemas.openxmlformats.org/officeDocument/2006/relationships" id="265" r:id="R0bdc9b15a5ef480f"/>
    <p:sldId xmlns:r="http://schemas.openxmlformats.org/officeDocument/2006/relationships" id="266" r:id="R80b8c8a084ff44ef"/>
    <p:sldId xmlns:r="http://schemas.openxmlformats.org/officeDocument/2006/relationships" id="267" r:id="R17722110167d4f4f"/>
    <p:sldId xmlns:r="http://schemas.openxmlformats.org/officeDocument/2006/relationships" id="268" r:id="R3881626d36014507"/>
    <p:sldId xmlns:r="http://schemas.openxmlformats.org/officeDocument/2006/relationships" id="269" r:id="Rf722302571b34d6f"/>
    <p:sldId xmlns:r="http://schemas.openxmlformats.org/officeDocument/2006/relationships" id="270" r:id="R4eea298422754b9a"/>
    <p:sldId xmlns:r="http://schemas.openxmlformats.org/officeDocument/2006/relationships" id="271" r:id="R0dda47dc8c4043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fb9c3b05ce4c9b" /><Relationship Type="http://schemas.openxmlformats.org/officeDocument/2006/relationships/slideMaster" Target="/ppt/slideMasters/slideMaster1.xml" Id="R74680e81c6014bbb" /><Relationship Type="http://schemas.openxmlformats.org/officeDocument/2006/relationships/notesMaster" Target="/ppt/notesMasters/notesMaster1.xml" Id="R659beb460d3a4647" /><Relationship Type="http://schemas.openxmlformats.org/officeDocument/2006/relationships/presProps" Target="/ppt/presProps.xml" Id="R289ddfa65adf4285" /><Relationship Type="http://schemas.openxmlformats.org/officeDocument/2006/relationships/tableStyles" Target="/ppt/tableStyles.xml" Id="Rfa5bab2ed1424b1f" /><Relationship Type="http://schemas.openxmlformats.org/officeDocument/2006/relationships/slide" Target="/ppt/slides/slide1.xml" Id="R0785d37523974f80" /><Relationship Type="http://schemas.openxmlformats.org/officeDocument/2006/relationships/slide" Target="/ppt/slides/slide2.xml" Id="Rc201c8a72e3b406a" /><Relationship Type="http://schemas.openxmlformats.org/officeDocument/2006/relationships/slide" Target="/ppt/slides/slide3.xml" Id="R85870d6bf5974268" /><Relationship Type="http://schemas.openxmlformats.org/officeDocument/2006/relationships/slide" Target="/ppt/slides/slide4.xml" Id="R02c2a31bdf6f4a2c" /><Relationship Type="http://schemas.openxmlformats.org/officeDocument/2006/relationships/slide" Target="/ppt/slides/slide5.xml" Id="R5c2fac2b55eb47e8" /><Relationship Type="http://schemas.openxmlformats.org/officeDocument/2006/relationships/slide" Target="/ppt/slides/slide6.xml" Id="R9fe08a4bbe484b54" /><Relationship Type="http://schemas.openxmlformats.org/officeDocument/2006/relationships/slide" Target="/ppt/slides/slide7.xml" Id="R2e36af42a77e4513" /><Relationship Type="http://schemas.openxmlformats.org/officeDocument/2006/relationships/slide" Target="/ppt/slides/slide8.xml" Id="R5a22b708b8de464c" /><Relationship Type="http://schemas.openxmlformats.org/officeDocument/2006/relationships/slide" Target="/ppt/slides/slide9.xml" Id="Rca6602d4d36548c7" /><Relationship Type="http://schemas.openxmlformats.org/officeDocument/2006/relationships/slide" Target="/ppt/slides/slide10.xml" Id="R0bdc9b15a5ef480f" /><Relationship Type="http://schemas.openxmlformats.org/officeDocument/2006/relationships/slide" Target="/ppt/slides/slide11.xml" Id="R80b8c8a084ff44ef" /><Relationship Type="http://schemas.openxmlformats.org/officeDocument/2006/relationships/slide" Target="/ppt/slides/slide12.xml" Id="R17722110167d4f4f" /><Relationship Type="http://schemas.openxmlformats.org/officeDocument/2006/relationships/slide" Target="/ppt/slides/slide13.xml" Id="R3881626d36014507" /><Relationship Type="http://schemas.openxmlformats.org/officeDocument/2006/relationships/slide" Target="/ppt/slides/slide14.xml" Id="Rf722302571b34d6f" /><Relationship Type="http://schemas.openxmlformats.org/officeDocument/2006/relationships/slide" Target="/ppt/slides/slide15.xml" Id="R4eea298422754b9a" /><Relationship Type="http://schemas.openxmlformats.org/officeDocument/2006/relationships/slide" Target="/ppt/slides/slide16.xml" Id="R0dda47dc8c4043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64d64d04ff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f645c704084fa2" /><Relationship Type="http://schemas.openxmlformats.org/officeDocument/2006/relationships/notesMaster" Target="/ppt/notesMasters/notesMaster1.xml" Id="R549af518bde544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ad887d366848df" /><Relationship Type="http://schemas.openxmlformats.org/officeDocument/2006/relationships/notesMaster" Target="/ppt/notesMasters/notesMaster1.xml" Id="R1874affbed6e4f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96caa13c5c4b04" /><Relationship Type="http://schemas.openxmlformats.org/officeDocument/2006/relationships/notesMaster" Target="/ppt/notesMasters/notesMaster1.xml" Id="R4207a8c8079845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6b29fac7fe45de" /><Relationship Type="http://schemas.openxmlformats.org/officeDocument/2006/relationships/notesMaster" Target="/ppt/notesMasters/notesMaster1.xml" Id="Ra1fe2cec03cf4a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db44624aae46fd" /><Relationship Type="http://schemas.openxmlformats.org/officeDocument/2006/relationships/notesMaster" Target="/ppt/notesMasters/notesMaster1.xml" Id="R806e7b31857b42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28abba09714d42" /><Relationship Type="http://schemas.openxmlformats.org/officeDocument/2006/relationships/notesMaster" Target="/ppt/notesMasters/notesMaster1.xml" Id="Rf24bf533376342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21ff539073476c" /><Relationship Type="http://schemas.openxmlformats.org/officeDocument/2006/relationships/notesMaster" Target="/ppt/notesMasters/notesMaster1.xml" Id="R633a78e61e9844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70dc66063249a8" /><Relationship Type="http://schemas.openxmlformats.org/officeDocument/2006/relationships/notesMaster" Target="/ppt/notesMasters/notesMaster1.xml" Id="Rd790d859fe764b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c56cbd471c4afe" /><Relationship Type="http://schemas.openxmlformats.org/officeDocument/2006/relationships/notesMaster" Target="/ppt/notesMasters/notesMaster1.xml" Id="R806e7fd4a2cb41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e2a0ca4aa447f0" /><Relationship Type="http://schemas.openxmlformats.org/officeDocument/2006/relationships/notesMaster" Target="/ppt/notesMasters/notesMaster1.xml" Id="R4887dc188d024d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861a3ad5624c40" /><Relationship Type="http://schemas.openxmlformats.org/officeDocument/2006/relationships/notesMaster" Target="/ppt/notesMasters/notesMaster1.xml" Id="R154478273be748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1d8b4593014263" /><Relationship Type="http://schemas.openxmlformats.org/officeDocument/2006/relationships/notesMaster" Target="/ppt/notesMasters/notesMaster1.xml" Id="Re642d45e1c7d4b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fe2f62664749a6" /><Relationship Type="http://schemas.openxmlformats.org/officeDocument/2006/relationships/notesMaster" Target="/ppt/notesMasters/notesMaster1.xml" Id="R7ec9c1c27f4647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49e0d06491415e" /><Relationship Type="http://schemas.openxmlformats.org/officeDocument/2006/relationships/notesMaster" Target="/ppt/notesMasters/notesMaster1.xml" Id="R3d562f43188649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d55a5ee505407b" /><Relationship Type="http://schemas.openxmlformats.org/officeDocument/2006/relationships/notesMaster" Target="/ppt/notesMasters/notesMaster1.xml" Id="R5c44c49af53b4c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c821d76eac4321" /><Relationship Type="http://schemas.openxmlformats.org/officeDocument/2006/relationships/notesMaster" Target="/ppt/notesMasters/notesMaster1.xml" Id="Rab8e2bf01ce34f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25 секунд. Продукт связывает полезное дело ребёнка, игровую цель и покупку подарка взрослым. Изображение на обложке создано для демонстрационной презентации, не показывает реальных клиентов.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сформулирована как гипотеза команды, а не как установленный статистический факт. СберKids уже имеет отдельные функции дел и копилок. Наш предмет проверки: нужен ли семье единый путь от задания к товару и решению взрослого.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Росстат, «Семья и дети в России 2024», раздел о семейных ячейках, https://rosstat.gov.ru/storage/2025/02-21/iKdrivYU/%D0%9E%D0%9F%D0%A0%D0%A4_%D1%81%D0%B5%D0%BC%D1%8C%D1%8F_%D0%B8_%D0%B4%D0%B5%D1%82%D0%B8_%D0%BA%D0%BE%D0%BD%D1%86%D0%B5%D0%BF%D1%86%D0%B8%D1%8F04_%D0%A1%D0%9C%D0%90%D0%A0%D0%A2.pdf ; Сбер, годовой отчёт 2024, страница 49, https://esg-library.mgimo.ru/upload/iblock/129/is8qrdzrqlm3j6r8ylcyzmgvtmgiayfx/Sberbank_AR_ESG_2024_RUS.pdf ; сообщение ПАО Сбербанк о результатах по РПБУ за 5 месяцев 2026, https://e-disclosure.azipi.ru/messages/4551199/ . 2,3 млн семей = 2,9 млн активных детей / 1,25 ребёнка на семью, округление. Коэффициент 1,25 — допущение, его нужно заменить внутренними данными. 15,5 млн включает семьи с детьми 0–5 лет, поэтому это лишь общерыночный ориентир, не точный TAM продукта 6–17. Подростки 14–17 не включены в оценку 2,3 млн.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показана ценность для трёх сторон. Не обещаем роста удержания или дохода как свершившегося факта. Эти показатели измеряются в пилоте с контрольной группой.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Существующие функции подтверждаются официальной страницей приложения: https://apps.sber.ru/apps/sberkids/ . Мы не выдаём задания или копилки как новое изобретение. Существенное отличие проектируемого продукта — завершение цикла с товаром, согласованием цели и взрослой покупкой, а также продолжение сценария в группе 14–17.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Отдельный запрос подарка не создаёт заказ и не списывает деньги. Перед оплатой взрослый проверяет текущую цену, наличие и доставку. Права бабушек и дедушек задаёт родитель; подтверждение выполнения остаётся за ним.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Целевое взаимодействие с Мегамаркетом: получить идентификатор товара, название, изображение, текущую цену, наличие и ссылку; передать выбранную цель в семейный вишлист; перед покупкой обновить цену, наличие и доставку; открыть взрослому оформление заказа; вернуть статус заказа или отмены. Детский безопасный каталог и права на передачу данных нуждаются в согласовании. Кнопка ребёнка «Хочу получить» не оформляет и не оплачивает заказ. Если цена изменилась или товар закончился, взрослый видит новые условия и может отказаться или выбрать замену. В текущем локальном прототипе реального API Мегамаркета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соответствуют product-spec.md. Текущий веб-прототип показывает больше демонстрационных механик, но промышленный MVP предлагается строить вокруг базового цикла. Все внешние интеграции и правовая модель должны быть подтверждены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показе переключить роли ребёнка и родителя. Прототип хранит данные локально в браузере и не подключён к СберKids, СберБанк Онлайн или Мегамаркету. Это проверка пользовательского сценария, а не готовая промышленная интеграция.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Иллюстративный расчёт, не прогноз Сбера. Из 2,3 млн доступных семей 15% подключились к концу первого года = 345 тыс. В первом году средняя активная база принимается как половина конечной, 172,5 тыс. Покупка подарка у 45% активных семей за год, средний чек 5 500 ₽. Оборот: 172 500 × 45% × 5 500 = 426,9 млн ₽ за год 1; 345 000 × 45% × 5 500 = 853,9 млн ₽ за год 2. Считаем действительно дополнительными 60% оборота; вклад после переменных затрат — 8% от него. Разработка 18 млн ₽ разово, содержание 12 млн ₽ ежегодно. Год 1: 426,9 × 60% × 8% − 30 = −9,5 млн ₽. Год 2: 853,9 × 60% × 8% − 12 = +29,0 млн ₽. Совокупно за два года +19,5 млн ₽. Все коэффициенты, кроме 2,9 млн MAU, являются проектными допущениями. Распределение экономического эффекта между Мегамаркетом и банком требует коммерческого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База 2,3 млн — оценка из публичного MAU СберKids 2,9 млн и допущения 1,25 активного ребёнка на семью. 15% — гипотеза конверсии, которую нужно проверить на пилоте и по фактическому воронке подключения. Это подключение к новому продукту существующих семей Сбера, не привлечение 345 тысяч новых для банка клиентов. Статистика 14–17 лет для расчёта недоступна в источниках, поэтому этот сегмент не прибавляли.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Осторожный сценарий второго года: 2,3 млн × 10% × 35% × 5 000 ₽ × 50% × 6% − 12 млн ₽ = 0,075 млн ₽, округлено до примерно нуля. Базовый сценарий: 2,3 млн × 15% × 45% × 5 500 ₽ × 60% × 8% − 12 млн ₽ = 28,986 млн ₽. Порог покрытия ежегодных затрат при базовом чеке, инкрементальности и марже: 12 000 000 / (5 500 × 0,60 × 0,08) = 45 455 покупок в год. Допущения требуют пилотной проверки, они не взяты из публичной отчётности.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ожидаемые выгоды и метрики пилота, а не подтверждённые результаты. Для активности сравнить семьи с продуктом и контрольную группу по MAU и завершённым действиям. Для ВСП считать долю оформлений детской и молодёжной карт с подключённым конструктором. Для подростков измерять активность и удержание через 3 и 12 месяцев после перехода в СберБанк Онлайн. Для Мегамаркета измерять действительно дополнительные заказы и маржинальный вклад. Число +29 млн ₽ во втором году — модель эффекта для экосистемы из слайда 10; доля, которую получает непосредственно Банк, должна быть подтверждена внутренней коммерческой схемой.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Предлагается ограниченный пилот с контрольной группой. Внутренние продуктовые данные заменят коэффициент детей на семью, конверсию и показатель действительно дополнительного оборота. Проверка права взрослого на доступ и модели обработки детских данных обязательна до промышленного запуска.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Формулы слайда 10. 2,9 млн MAU: сообщение ПАО Сбербанк за май 2026 https://e-disclosure.azipi.ru/messages/4551199/ . Все остальные числа, включая размер семьи, конверсию, средний чек, дополнительность, маржу и расходы, — допущения финансовой модели, требующие верификации. Не включены затраты на полноценные интеграции СберЗвука, расширенного ИИ и сложные права родственников, если они войдут в промышленный объём.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Росстат, «Семья и дети в России 2024»: https://rosstat.gov.ru/storage/2025/02-21/iKdrivYU/%D0%9E%D0%9F%D0%A0%D0%A4_%D1%81%D0%B5%D0%BC%D1%8C%D1%8F_%D0%B8_%D0%B4%D0%B5%D1%82%D0%B8_%D0%BA%D0%BE%D0%BD%D1%86%D0%B5%D0%BF%D1%86%D0%B8%D1%8F04_%D0%A1%D0%9C%D0%90%D0%A0%D0%A2.pdf ; Сбер, годовой отчёт 2024, стр. 49: https://esg-library.mgimo.ru/upload/iblock/129/is8qrdzrqlm3j6r8ylcyzmgvtmgiayfx/Sberbank_AR_ESG_2024_RUS.pdf ; ПАО Сбербанк, раскрытие результатов за пять месяцев 2026: https://e-disclosure.azipi.ru/messages/4551199/ ; официальная страница приложения СберKids: https://apps.sber.ru/apps/sberkids/ . Публичные данные относятся к разным периодам и измеряют разные совокупности. Показатели из фотографий референса, включая 14,1 млн, 5,4 млн, 44%, +30% и CLTV, не приняты как проверенные данные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33898127e4d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565da85df7426c" /><Relationship Type="http://schemas.openxmlformats.org/officeDocument/2006/relationships/slideLayout" Target="/ppt/slideLayouts/slideLayout1.xml" Id="R128e565e528b4d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8e565e528b4d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2a301b0194c84" /><Relationship Type="http://schemas.openxmlformats.org/officeDocument/2006/relationships/image" Target="/ppt/media/image.png" Id="R7d49c66a6c3b4733" /><Relationship Type="http://schemas.openxmlformats.org/officeDocument/2006/relationships/notesSlide" Target="/ppt/notesSlides/notesSlide1.xml" Id="Raed813ff42c848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fa84f4f164a86" /><Relationship Type="http://schemas.openxmlformats.org/officeDocument/2006/relationships/notesSlide" Target="/ppt/notesSlides/notesSlide2.xml" Id="R878b9d630b8342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620cfe52549a1" /><Relationship Type="http://schemas.openxmlformats.org/officeDocument/2006/relationships/notesSlide" Target="/ppt/notesSlides/notesSlide3.xml" Id="R5b02cd85d3924b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07de444804658" /><Relationship Type="http://schemas.openxmlformats.org/officeDocument/2006/relationships/notesSlide" Target="/ppt/notesSlides/notesSlide4.xml" Id="Rb8ea0de1e82843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334682bbe4f11" /><Relationship Type="http://schemas.openxmlformats.org/officeDocument/2006/relationships/notesSlide" Target="/ppt/notesSlides/notesSlide5.xml" Id="R26709142725641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5edf67d8749a7" /><Relationship Type="http://schemas.openxmlformats.org/officeDocument/2006/relationships/notesSlide" Target="/ppt/notesSlides/notesSlide6.xml" Id="R0bca0d0bedb14a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e3561c209459b" /><Relationship Type="http://schemas.openxmlformats.org/officeDocument/2006/relationships/notesSlide" Target="/ppt/notesSlides/notesSlide7.xml" Id="Re3d09f2c524445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212e007d84960" /><Relationship Type="http://schemas.openxmlformats.org/officeDocument/2006/relationships/notesSlide" Target="/ppt/notesSlides/notesSlide8.xml" Id="R5ce959c209ce4a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f9a0698bc46c2" /><Relationship Type="http://schemas.openxmlformats.org/officeDocument/2006/relationships/image" Target="/ppt/media/image2.png" Id="R7e46c3e82f404095" /><Relationship Type="http://schemas.openxmlformats.org/officeDocument/2006/relationships/notesSlide" Target="/ppt/notesSlides/notesSlide9.xml" Id="R14f5b7fc1a1449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27a35c4c54fc4" /><Relationship Type="http://schemas.openxmlformats.org/officeDocument/2006/relationships/notesSlide" Target="/ppt/notesSlides/notesSlide10.xml" Id="Rb2f2e7c2282546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9d004d6e54513" /><Relationship Type="http://schemas.openxmlformats.org/officeDocument/2006/relationships/notesSlide" Target="/ppt/notesSlides/notesSlide11.xml" Id="Rbfb8bb09e55f4d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b767409a74194" /><Relationship Type="http://schemas.openxmlformats.org/officeDocument/2006/relationships/notesSlide" Target="/ppt/notesSlides/notesSlide12.xml" Id="Rb68e04edbdbf4f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ba9b8202244ba" /><Relationship Type="http://schemas.openxmlformats.org/officeDocument/2006/relationships/notesSlide" Target="/ppt/notesSlides/notesSlide13.xml" Id="R9049d2e9047743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d0d3f962545dc" /><Relationship Type="http://schemas.openxmlformats.org/officeDocument/2006/relationships/notesSlide" Target="/ppt/notesSlides/notesSlide14.xml" Id="Rb36d17591f264f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315bdb91d4479" /><Relationship Type="http://schemas.openxmlformats.org/officeDocument/2006/relationships/notesSlide" Target="/ppt/notesSlides/notesSlide15.xml" Id="R5a6974654e2149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796cfadfb4c5b" /><Relationship Type="http://schemas.openxmlformats.org/officeDocument/2006/relationships/notesSlide" Target="/ppt/notesSlides/notesSlide16.xml" Id="R75ed3f120ef34a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9c66a6c3b473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02D98-EE09-43E8-AF20-85CB67A0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6858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СЕМЕЙНЫЙ</a:t>
            </a:r>
          </a:p>
          <a:p xmlns:a="http://schemas.openxmlformats.org/drawingml/2006/main">
            <a:pPr>
              <a:defRPr sz="457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КОНСТРУКТОР</a:t>
            </a:r>
          </a:p>
          <a:p xmlns:a="http://schemas.openxmlformats.org/drawingml/2006/main">
            <a:pPr>
              <a:defRPr sz="457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ЦЕЛЕЙ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0EFCF-104A-4114-99DF-3B06DD3F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14775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КОТИКСЫ &amp; СБЕРСЫ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26DA1-0EC9-447C-BA70-F147FFC0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СберKids 6–13 лет  /  СберБанк Онлайн 14–17 лет</a:t>
            </a:r>
          </a:p>
        </p:txBody>
      </p:sp>
    </p:spTree>
    <p:extLst>
      <p:ext uri="{BB962C8B-B14F-4D97-AF65-F5344CB8AC3E}">
        <p14:creationId xmlns:p14="http://schemas.microsoft.com/office/powerpoint/2010/main" val="1536764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0C25E-AC25-4C41-AA50-18E6B033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КАКУЮ ПРОБЛЕМУ РЕШАЕМ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92AE3-FAC0-4DD0-AA6F-411CB828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2FD86-41F1-45ED-ABA3-2A2DD5C9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95425"/>
            <a:ext cx="1066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ЖЕЛАНИЕ РЕБЁНКА, ДОГОВОРЁННОСТЬ О ДЕЛАХ</a:t>
            </a:r>
          </a:p>
          <a:p xmlns:a="http://schemas.openxmlformats.org/drawingml/2006/main">
            <a:pPr>
              <a:defRPr sz="27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И ПОКУПКА ПОДАРКА ЖИВУТ ОТДЕЛЬНО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384B3-86B3-43D1-860E-D5A6B985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B382A-718C-47C0-83EB-37BACB5E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B694C-754F-4423-9D3B-5B52211C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3623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Ребёнок не видит понятного пути от усилия к выбранной вещи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1224B-0BCE-4668-AC0D-B7AF0B5F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F155B-005A-416B-91EB-73D48FC4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148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Родитель вручную договаривается, считает прогресс и контролирует бюджет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C06DA-1BE0-4001-8150-99172DE2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895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A88BE-3CC4-48EA-A496-34755AA6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26732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После 14 лет семье нужен такой же общий сценарий в СберБанк Онлайн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08A69-F237-4CBA-98D3-7F7A27C1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Продуктовая гипотеза. Её проверит исследование семей и пилот.</a:t>
            </a:r>
          </a:p>
        </p:txBody>
      </p:sp>
    </p:spTree>
    <p:extLst>
      <p:ext uri="{BB962C8B-B14F-4D97-AF65-F5344CB8AC3E}">
        <p14:creationId xmlns:p14="http://schemas.microsoft.com/office/powerpoint/2010/main" val="706025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435A4-5617-42F1-9375-256963B9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КОГО МОЖЕМ ПРИВЛЕЧЬ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1A8D8-E216-41E7-B94F-16CEE6D5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68B7C-71A4-47AF-8501-884CE4E2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15,5 млн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DFAC4-7E17-48BB-BB1D-61D5368B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90675"/>
            <a:ext cx="695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семейных ячеек с детьми младше 18 лет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27037-C013-4A76-8EC2-89E586DA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05025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Росстат, перепись 2020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F331F-5754-4DFF-A54B-F08ABE91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C8238-6A58-4380-B7F8-712CC65A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0512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&gt;4,3 млн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4A0CE-AEDB-4E3F-AFEB-FBEC6C2D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24175"/>
            <a:ext cx="695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активных клиентов Сбера 6–13 лет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5AEEC-041B-4073-BFB1-7713E700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38525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годовой отчёт Сбера за 2024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4F5EC-AFF0-4F0A-9678-456FB889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D8BBF-0A64-4FAE-BC2D-1264D6C0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38625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2,9 млн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461F4-2705-4A3E-B343-BA896901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57675"/>
            <a:ext cx="695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MAU приложения СберKids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EFE35-E861-4816-A53E-8FD8E2A9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72025"/>
            <a:ext cx="609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отчёт Сбера за май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3186E-781E-43A2-89EB-5F775958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≈2,3 млн семей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F1E59-923B-4059-B8B9-BF7CCAB7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57850"/>
            <a:ext cx="708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оценка доступной аудитории: 2,9 млн MAU / 1,25 ребёнка на семью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96D14-64DA-442C-8F08-0C53FFC8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96025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Показатели измеряют разные группы; оценка семей использует допущение.</a:t>
            </a:r>
          </a:p>
        </p:txBody>
      </p:sp>
    </p:spTree>
    <p:extLst>
      <p:ext uri="{BB962C8B-B14F-4D97-AF65-F5344CB8AC3E}">
        <p14:creationId xmlns:p14="http://schemas.microsoft.com/office/powerpoint/2010/main" val="1870965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DBC46-6D0A-4A7E-A596-EAC4F2E7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ЗАЧЕМ ЭТО СЕМЬЕ И СБЕРУ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127DF-3269-4DF8-ABEE-51D656D6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0DC2F-19A6-4F76-A8CE-4D35A517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РЕБЁНКУ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D4313-707A-4830-94BC-307B29FC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700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Видимый прогресс к подарку, который он выбрал сам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6105B-097F-4498-AACF-C4966949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908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4C383-8EA4-411F-812C-2985FCA2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7657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РОДИТЕЛЮ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EF54B-5577-494B-8B07-DF0294B8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700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Правила, лимиты и окончательное решение о покупке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C3F52-4F3D-475D-9B05-2463DEB4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71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AB0C6-F159-4030-996C-B2DF1401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5770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СБЕРУ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52B3D-3314-4E1B-A904-ABCA677B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76750"/>
            <a:ext cx="700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Больше осмысленных семейных действий в действующих каналах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34331-FCB0-4A3C-9F89-1365B88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Эффект для удержания пока не монетизируем: нужна контрольная группа.</a:t>
            </a:r>
          </a:p>
        </p:txBody>
      </p:sp>
    </p:spTree>
    <p:extLst>
      <p:ext uri="{BB962C8B-B14F-4D97-AF65-F5344CB8AC3E}">
        <p14:creationId xmlns:p14="http://schemas.microsoft.com/office/powerpoint/2010/main" val="22551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74308-43AB-4627-BA2B-BDB8C6E0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ИНСАЙТЫ ДЛЯ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D865B-2FA8-409A-8FB4-8E1E29CE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5DB0B-A97D-44B7-A0B2-1BB360EB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28775"/>
            <a:ext cx="733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CAE95-94E1-43A9-8A7E-AE03F985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9067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В СберKids уже есть «дела» и «копилки»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68E7B-0687-49C7-80FD-EE10F5A7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971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Новизна в общей цели из Мегамаркета и покупке взрослым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2631B-2197-4B1F-AD7A-96456C00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4017F-1787-46C2-B64B-85A157C2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28950"/>
            <a:ext cx="733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876BC-0A95-4C5D-A14B-F5D4A92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908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Взрослый сохраняет право последнего решения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4E54A-645A-40D8-9587-6C9D9B94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95675"/>
            <a:ext cx="971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Игровые баллы не равны рублям и не списывают деньги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ADB16-6EFA-4A3B-AF0F-B1A676EF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B7506-ED66-463D-8F55-7D514936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733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7DC2C-28F5-46AD-8A4A-396C02D9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910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Для подростка меняется интерфейс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654B5-7945-4EDE-889A-A7BA5478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95850"/>
            <a:ext cx="9715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Семейная логика продолжается после 14 лет</a:t>
            </a:r>
          </a:p>
        </p:txBody>
      </p:sp>
    </p:spTree>
    <p:extLst>
      <p:ext uri="{BB962C8B-B14F-4D97-AF65-F5344CB8AC3E}">
        <p14:creationId xmlns:p14="http://schemas.microsoft.com/office/powerpoint/2010/main" val="1994947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C1727-18EA-4D86-B45C-6E141E84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КАК РАБОТАЕТ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159C5-2DFF-4ECE-8715-31700A7D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27068-DB59-4E12-AD01-E265BDD9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525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D3A7D-3DA2-4077-99C2-21AC0A9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525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ЗАДАНИЕ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95B34-9EB2-4E1F-A810-EC4BAC7A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811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Взрослый задаёт дело и награду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9486E-AB87-4FC8-A095-7BE58096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669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D017B-9454-4F8A-9AA1-09FE178E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C2357-A98A-4954-A1EE-58C56CEF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955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Родитель принимает результат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F1394-21D2-4294-8287-6557B596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EF3CC-7C48-4E51-86CF-EB7ADBD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1E7C1-24C1-4604-B5CB-B6E8F5B8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Ребёнок выбирает товар, взрослый одобряет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5BD75-D831-47BA-B55A-861E6C83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957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5014E-9842-4D8A-B557-7EF3C1CE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ПРОГРЕСС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04CAE-DC57-4038-8770-0CEE1F68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243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Котиксы или Сберсы копятся до порога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5996A-3ED5-410E-B217-960AF6A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0175"/>
            <a:ext cx="638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2CA05-976A-4DF8-8150-B23A9746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01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ПОДАРОК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E1456-D938-402B-92B0-03CA8E2B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387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Взрослый проверяет заказ и оплачивает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1E2CF-0F46-4746-8499-621BDF86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Игровые единицы не выводятся и не служат средством оплаты.</a:t>
            </a:r>
          </a:p>
        </p:txBody>
      </p:sp>
    </p:spTree>
    <p:extLst>
      <p:ext uri="{BB962C8B-B14F-4D97-AF65-F5344CB8AC3E}">
        <p14:creationId xmlns:p14="http://schemas.microsoft.com/office/powerpoint/2010/main" val="82664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D7C68-6FE9-4676-B504-99939157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ИНТЕГРАЦИЯ С МЕГАМАРКЕТОМ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93D3B-B064-4572-88A6-34BF1728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E4D4B-DDAB-416F-9C94-2E47B96F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D21AF-1E41-4939-958B-6CEBE386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4573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ВЫБОР ТОВАРА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F0633-926E-44E1-A19D-CCA5403A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438275"/>
            <a:ext cx="651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Ребёнок открывает безопасный каталог и добавляет товар в цель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C4745-EBCB-48EE-8951-1156334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AB2FA-E2C7-48E4-83EB-D75C4778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FDEE0-83AC-467F-A48C-06BD91B9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5622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СОГЛАСОВАНИЕ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EBDED-0ACE-4F47-B601-E3DB7D42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43175"/>
            <a:ext cx="651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Родитель видит карточку, цену и задаёт порог игровых баллов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9DA3B-16EA-488F-82BD-215D28F9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FBD7F-ABC2-4738-A8E3-4E1E8FF2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91411-B125-4EF2-89CA-EAF337C5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671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ЗАПРОС ПОДАРКА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0B3C8-FB67-4BE9-9FB8-10267E8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48075"/>
            <a:ext cx="651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После достижения цели взрослый проверяет цену, наличие и доставку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1A59F-B588-4E05-A2F1-039EFD21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D4F6D-7CBF-424B-9C27-9DCA2279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72025"/>
            <a:ext cx="72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D4F801-B725-49A5-B23D-D19A2C20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7720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ПОКУПКА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C7ED4-B5EF-448C-A6FA-0455B3CB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52975"/>
            <a:ext cx="6515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Взрослый оплачивает заказ; статус подарка возвращается в семейный сценарий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78027-8150-4403-B1B6-AA188855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MVP: карточка товара и переход взрослого к оформлению. Обмен ценой и статусами требует интеграции.</a:t>
            </a:r>
          </a:p>
        </p:txBody>
      </p:sp>
    </p:spTree>
    <p:extLst>
      <p:ext uri="{BB962C8B-B14F-4D97-AF65-F5344CB8AC3E}">
        <p14:creationId xmlns:p14="http://schemas.microsoft.com/office/powerpoint/2010/main" val="8493861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91274-3819-4D32-9222-6C07EAB2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ЧТО ВХОДИТ В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EA5B5-931F-49F1-9054-5CD28331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A8189-C34F-4E4D-A7FE-FFC8909A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4762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6–13 ЛЕТ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E6960-F4D2-46FE-8424-FE0C36E4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667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СберKids</a:t>
            </a:r>
          </a:p>
          <a:p xmlns:a="http://schemas.openxmlformats.org/drawingml/2006/main">
            <a:pPr>
              <a:defRPr sz="25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Котиксы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ACD9A-A141-4C64-995F-6B0D2458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90675"/>
            <a:ext cx="4762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14–17 ЛЕТ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EF52B-49DD-4291-91AC-5F66082D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667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СберБанк Онлайн</a:t>
            </a:r>
          </a:p>
          <a:p xmlns:a="http://schemas.openxmlformats.org/drawingml/2006/main">
            <a:pPr>
              <a:defRPr sz="2550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Сберсы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A4D97-E051-400D-9357-C2449628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B835F-4729-4DAE-8215-A22C3D46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ОБЩЕЕ ЯДРО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DBB87-92A1-411F-A929-15C5908F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4342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Задание, подтверждение, баланс, цель, прогресс и запрос подарка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81EAC-6212-425D-AA69-F4A15E2F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После MVP: доступ родственников, СберЗвук, игровой вклад и ИИ-наставник.</a:t>
            </a:r>
          </a:p>
        </p:txBody>
      </p:sp>
    </p:spTree>
    <p:extLst>
      <p:ext uri="{BB962C8B-B14F-4D97-AF65-F5344CB8AC3E}">
        <p14:creationId xmlns:p14="http://schemas.microsoft.com/office/powerpoint/2010/main" val="1769971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BFFEE-0B79-4263-B787-AFCAA022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РАБОЧИЙ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D307-AE49-47DA-968A-38306BC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6c3e82f404095"/>
          <a:stretch xmlns:a="http://schemas.openxmlformats.org/drawingml/2006/main"/>
        </p:blipFill>
        <p:spPr>
          <a:xfrm xmlns:a="http://schemas.openxmlformats.org/drawingml/2006/main">
            <a:off x="1052513" y="1438275"/>
            <a:ext cx="6934200" cy="4333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12D5D-23EC-4DAA-842F-AFD94667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905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УЖЕ МОЖНО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BED75-FD19-47C9-9257-673F37D0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8384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Пройти цикл задания</a:t>
            </a:r>
          </a:p>
          <a:p xmlns:a="http://schemas.openxmlformats.org/drawingml/2006/main">
            <a:pPr>
              <a:defRPr sz="19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Проверить роль родителя</a:t>
            </a:r>
          </a:p>
          <a:p xmlns:a="http://schemas.openxmlformats.org/drawingml/2006/main">
            <a:pPr>
              <a:defRPr sz="19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Выбрать цель</a:t>
            </a:r>
          </a:p>
          <a:p xmlns:a="http://schemas.openxmlformats.org/drawingml/2006/main">
            <a:pPr>
              <a:defRPr sz="195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Увидеть прогресс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313AB-B9B2-458B-A2C8-9CA1D53C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229225"/>
            <a:ext cx="2800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Демо работает локально. Реальных заказов и платежей нет.</a:t>
            </a:r>
          </a:p>
        </p:txBody>
      </p:sp>
    </p:spTree>
    <p:extLst>
      <p:ext uri="{BB962C8B-B14F-4D97-AF65-F5344CB8AC3E}">
        <p14:creationId xmlns:p14="http://schemas.microsoft.com/office/powerpoint/2010/main" val="1512401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A8107-B20D-4BD2-8E32-BABF0551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ЭКОНОМИЧЕСКИЙ ЭФФЕКТ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1D4D6-BD12-4691-98F0-31B7AF98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76581-5815-449B-A8F3-81FA04B5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БАЗОВЫЙ СЦЕНАРИЙ: ОКУПАЕМОСТЬ ВО ВТОРОЙ ГОД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95325" y="2028825"/>
          <a:ext xmlns:a="http://schemas.openxmlformats.org/drawingml/2006/main" cx="1057275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810250"/>
                <a:gridCol w="2333625"/>
                <a:gridCol w="2428875"/>
              </a:tblGrid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Год 1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Год 2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Среднее число активных семей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173 тыс.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345 тыс.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Покупки подарков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78 тыс.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155 тыс.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Оборот подарков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427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854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Дополнительный оборот¹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256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512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Вклад после переменных затрат²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20,5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41,0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Разработка + содержание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30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12 млн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45839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Итог периода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−9,5 млн ₽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+29,0 млн ₽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8C69D-9052-4433-B00C-A0A03726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601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¹ 60% оборота считаем дополнительным. ² 8% от дополнительного оборота; это допущения.</a:t>
            </a:r>
          </a:p>
        </p:txBody>
      </p:sp>
    </p:spTree>
    <p:extLst>
      <p:ext uri="{BB962C8B-B14F-4D97-AF65-F5344CB8AC3E}">
        <p14:creationId xmlns:p14="http://schemas.microsoft.com/office/powerpoint/2010/main" val="1895360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96D44-6336-4F3D-AC61-13B451A3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СКОЛЬКО СЕМЕЙ ПОДКЛЮЧИТСЯ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9259C-A8B1-43F1-98C2-616E092B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03790-7119-47F2-9488-E43BFE2A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571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2,3 млн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C37D2-8C5D-4FA8-B4BD-C60FBB44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28775"/>
            <a:ext cx="6838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доступных семей в СберKids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6A7E5-2BF0-4F2E-830C-73FADF6D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6F303-B504-4771-A8C9-03BDCB1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71800"/>
            <a:ext cx="31146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517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51F77-3048-44FE-AC62-BEC3F9D3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67913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принятое допущение о подключении</a:t>
            </a:r>
          </a:p>
          <a:p xmlns:a="http://schemas.openxmlformats.org/drawingml/2006/main">
            <a:pPr>
              <a:defRPr sz="210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к концу первого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AF4A1-D1EB-4E51-ACBF-2385D971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9642A-E8BB-4EDB-ACE4-50120740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≈345 тыс.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4C329-CE0C-4EF1-9942-E290C212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958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7F9F8"/>
                </a:solidFill>
                <a:latin typeface="Arial"/>
                <a:ea typeface="Arial"/>
                <a:cs typeface="Arial"/>
              </a:rPr>
              <a:t>семей с активной целью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A993F-7E32-4A95-95F0-E2BFDEE6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Подростков 14–17 лет в расчёт не включали. Охват уточним по внутренним связям «родитель — ребёнок».</a:t>
            </a:r>
          </a:p>
        </p:txBody>
      </p:sp>
    </p:spTree>
    <p:extLst>
      <p:ext uri="{BB962C8B-B14F-4D97-AF65-F5344CB8AC3E}">
        <p14:creationId xmlns:p14="http://schemas.microsoft.com/office/powerpoint/2010/main" val="14417479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76FD7-6E92-4A81-ABE4-E32CD9CC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ЧУВСТВИТЕЛЬНОСТЬ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3637F-C42E-4FA4-B5E4-86C13827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14375" y="1504950"/>
          <a:ext xmlns:a="http://schemas.openxmlformats.org/drawingml/2006/main" cx="10572750" cy="38195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5715000"/>
                <a:gridCol w="2428875"/>
                <a:gridCol w="2428875"/>
              </a:tblGrid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Осторожный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Базовый</a:t>
                      </a:r>
                    </a:p>
                  </a:txBody>
                  <a:tcPr marL="91440" marR="91440" marT="45720" marB="45720">
                    <a:solidFill>
                      <a:srgbClr val="102B2E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Подключение семей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Доля семей с покупкой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35%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45%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Средний чек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5 000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5 500 ₽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Дополнительная доля оборота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Маржинальный вклад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6%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F7F9F8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071719"/>
                    </a:solidFill>
                  </a:tcPr>
                </a:tc>
              </a:tr>
              <a:tr h="54564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во 2-й год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≈0 млн ₽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76E877"/>
                          </a:solidFill>
                          <a:latin typeface="Arial"/>
                          <a:ea typeface="Arial"/>
                          <a:cs typeface="Arial"/>
                        </a:rPr>
                        <a:t>+29 млн ₽</a:t>
                      </a:r>
                    </a:p>
                  </a:txBody>
                  <a:tcPr marL="91440" marR="91440" marT="45720" marB="45720">
                    <a:solidFill>
                      <a:srgbClr val="133E3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6584D-40C0-4C9F-A3F3-B0110EC6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33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Порог покрытия годовых затрат 12 млн ₽: около 46 тыс. покупок в год при базовых параметрах.</a:t>
            </a:r>
          </a:p>
        </p:txBody>
      </p:sp>
    </p:spTree>
    <p:extLst>
      <p:ext uri="{BB962C8B-B14F-4D97-AF65-F5344CB8AC3E}">
        <p14:creationId xmlns:p14="http://schemas.microsoft.com/office/powerpoint/2010/main" val="15523978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A953B-938B-4427-BC0E-3336BDF6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ПЛЮСЫ ДЛЯ БАНКА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F4B6F-BBF6-4944-B96C-10CE7C32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F1564-3575-4618-9EC3-99443E4C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95425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АКТИВНОСТЬ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C0302-904A-4056-A7D3-CCD74089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76375"/>
            <a:ext cx="782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Семейный повод возвращаться в СберKids и СберБанк Онлайн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BE836-09F1-4D14-9F83-1DBC3733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57400"/>
            <a:ext cx="771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MAU и действия семьи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30C8F-C8C9-4F0E-BB60-71A295D2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AD4D8-E296-4E50-9FD8-9AC3327C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00325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КАРТЫ В ВСП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0CD8D-FCF9-47AC-ACB1-C94D1FD7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81275"/>
            <a:ext cx="782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Разговор о пользе детской и молодёжной карты при оформлении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1BD79-12BE-4810-B4AD-6D11D038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771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доля подключений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5F2BA-F6DC-452C-B8B6-AEE63EB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471AE-B64F-4306-863F-0FD313DC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05225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УДЕРЖАНИЕ 14+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3CBA8-F72C-4CDF-99E5-44F6615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86175"/>
            <a:ext cx="782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Продолжение целей при переходе подростка в СберБанк Онлайн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85252-64CC-4555-81C9-ED09D118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267200"/>
            <a:ext cx="771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активность через 3 и 12 мес.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4CDAE-82BA-4C8F-992A-8B42810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FAA9F-D5B4-48FA-8275-EA43CEE7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0125"/>
            <a:ext cx="2705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ЭКОСИСТЕМА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87D48-AE26-4A8E-9909-19B55B63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91075"/>
            <a:ext cx="782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Дополнительные подарочные заказы в Мегамаркете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344D2-5B08-4AF7-9852-6F0D4590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372100"/>
            <a:ext cx="771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заказы и вклад после затрат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1A9DD-3CF1-41ED-8365-24787110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19800"/>
            <a:ext cx="1042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CD0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CD0CE"/>
                </a:solidFill>
                <a:latin typeface="Arial"/>
                <a:ea typeface="Arial"/>
                <a:cs typeface="Arial"/>
              </a:rPr>
              <a:t>Модель +29 млн ₽ во 2-й год относится к экосистеме. Доход Банка зависит от распределения эффекта.</a:t>
            </a:r>
          </a:p>
        </p:txBody>
      </p:sp>
    </p:spTree>
    <p:extLst>
      <p:ext uri="{BB962C8B-B14F-4D97-AF65-F5344CB8AC3E}">
        <p14:creationId xmlns:p14="http://schemas.microsoft.com/office/powerpoint/2010/main" val="13037743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3F5D0-649F-46EE-A4D4-7EF3A30C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ЧТО ПРОВЕРЯЕМ В ПИЛОТЕ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FCE16-8F5F-4117-9693-1F5C3F8C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F622C-FA1E-4DB1-949F-0C5981DE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СПРОС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B7EBE-0135-4A63-A542-9EC995C1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38300"/>
            <a:ext cx="7562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Доля подключившихся семей и первая одобренная цель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BBE12-F790-4328-BD5E-6D695B22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283AD-520C-47CD-93C3-C6107E27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ПОВЕДЕНИЕ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E688F-6181-4891-A8CD-8F157E64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52725"/>
            <a:ext cx="7562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Завершённые задания, достижение цели и запрос подарка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AC666-4FEB-4E1C-9D66-A8E0D0C0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79413-B3B0-45C0-A9B7-EA560121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3D7E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3D7E6"/>
                </a:solidFill>
                <a:latin typeface="Arial"/>
                <a:ea typeface="Arial"/>
                <a:cs typeface="Arial"/>
              </a:rPr>
              <a:t>ДЕНЬГИ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E678C-44D2-4080-94D9-C79AA0F3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67150"/>
            <a:ext cx="7562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Дополнительные заказы против контрольной группы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92595-2D76-4ABF-8FBD-E980B758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29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DDC81-777A-4393-84AA-05F1A7B1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6E87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E877"/>
                </a:solidFill>
                <a:latin typeface="Arial"/>
                <a:ea typeface="Arial"/>
                <a:cs typeface="Arial"/>
              </a:rPr>
              <a:t>ДОВЕРИЕ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984FE-01A3-4195-A16A-FFC13482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81575"/>
            <a:ext cx="7562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9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7F9F8"/>
                </a:solidFill>
                <a:latin typeface="Arial"/>
                <a:ea typeface="Arial"/>
                <a:cs typeface="Arial"/>
              </a:rPr>
              <a:t>Понимание игровых баллов и добровольности покупки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3A2B8-B40D-45B0-827A-EB329557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62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6A29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6A29F"/>
                </a:solidFill>
                <a:latin typeface="Arial"/>
                <a:ea typeface="Arial"/>
                <a:cs typeface="Arial"/>
              </a:rPr>
              <a:t>Для решения о запуске нужны фактическая конверсия, маржа и стоимость поддержки.</a:t>
            </a:r>
          </a:p>
        </p:txBody>
      </p:sp>
    </p:spTree>
    <p:extLst>
      <p:ext uri="{BB962C8B-B14F-4D97-AF65-F5344CB8AC3E}">
        <p14:creationId xmlns:p14="http://schemas.microsoft.com/office/powerpoint/2010/main" val="4895992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B46D8-0830-4027-9671-47313250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26"/>
                </a:solidFill>
                <a:latin typeface="Arial"/>
                <a:ea typeface="Arial"/>
                <a:cs typeface="Arial"/>
              </a:rPr>
              <a:t>ПРИЛОЖЕНИЕ: ФОРМУЛА ЭФФЕКТА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C2D39-0424-4F2E-B5AA-C13FA85F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6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85AA1-98AD-4419-996E-F6FFA58E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26"/>
                </a:solidFill>
                <a:latin typeface="Arial"/>
                <a:ea typeface="Arial"/>
                <a:cs typeface="Arial"/>
              </a:rPr>
              <a:t>Доступные семьи = 2,9 млн MAU / 1,25 = 2,3 млн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94BB4-5102-4964-858D-6B0185D4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Год 2: 2,3 млн × 15% × 45% × 5 500 ₽ = 854 млн ₽ оборота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28C9C-B2C6-4B41-8DED-32CE6027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D6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D64"/>
                </a:solidFill>
                <a:latin typeface="Arial"/>
                <a:ea typeface="Arial"/>
                <a:cs typeface="Arial"/>
              </a:rPr>
              <a:t>854 млн ₽ × 60% × 8% = 41 млн ₽ вклада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5ABB6-8A8F-405F-89C1-5E9C00CF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767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326"/>
                </a:solidFill>
                <a:latin typeface="Arial"/>
                <a:ea typeface="Arial"/>
                <a:cs typeface="Arial"/>
              </a:rPr>
              <a:t>41 млн ₽ − 12 млн ₽ содержания = 29 млн 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E1B66-64D3-4A00-834E-F83337F9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673"/>
                </a:solidFill>
                <a:latin typeface="Arial"/>
                <a:ea typeface="Arial"/>
                <a:cs typeface="Arial"/>
              </a:rPr>
              <a:t>Первый год включает 18 млн ₽ разработки. При плавном наборе аудитории итог первого года ≈ −9,5 млн ₽.</a:t>
            </a:r>
          </a:p>
        </p:txBody>
      </p:sp>
    </p:spTree>
    <p:extLst>
      <p:ext uri="{BB962C8B-B14F-4D97-AF65-F5344CB8AC3E}">
        <p14:creationId xmlns:p14="http://schemas.microsoft.com/office/powerpoint/2010/main" val="4670473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F490F-29E5-4CF6-BCCE-3B397AF9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26"/>
                </a:solidFill>
                <a:latin typeface="Arial"/>
                <a:ea typeface="Arial"/>
                <a:cs typeface="Arial"/>
              </a:rPr>
              <a:t>ПРИЛОЖЕНИЕ: ИСТОЧНИКИ И ПРЕДЕЛЫ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D2F3A-224E-4708-94A2-19FF8234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6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FEB3A-3B75-4766-865A-1B8347B0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D6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D64"/>
                </a:solidFill>
                <a:latin typeface="Arial"/>
                <a:ea typeface="Arial"/>
                <a:cs typeface="Arial"/>
              </a:rPr>
              <a:t>ПУБЛИЧНЫЕ 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7AF06-C739-44B5-8F49-0126FB4A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57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Росстат: 15,5 млн семейных ячеек с детьми до 18 лет, перепись 2020</a:t>
            </a:r>
          </a:p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Сбер: &gt;4,3 млн активных клиентов 6–13 лет, годовой отчёт 2024</a:t>
            </a:r>
          </a:p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Сбер: 2,9 млн MAU СберKids, май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C1A53-13BF-4A98-BAC2-020BE716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81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0B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C33A0-5DDF-44C4-9BF6-D9FA2E97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D6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D64"/>
                </a:solidFill>
                <a:latin typeface="Arial"/>
                <a:ea typeface="Arial"/>
                <a:cs typeface="Arial"/>
              </a:rPr>
              <a:t>ТРЕБУЮТ ВНУТРЕННЕЙ 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5DAD3-A64D-4BD5-A7A7-85522923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572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Число семей за детскими аккаунтами, доля подростков,</a:t>
            </a:r>
          </a:p>
          <a:p xmlns:a="http://schemas.openxmlformats.org/drawingml/2006/main">
            <a:pPr>
              <a:defRPr sz="1800" b="0">
                <a:solidFill>
                  <a:srgbClr val="1023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326"/>
                </a:solidFill>
                <a:latin typeface="Arial"/>
                <a:ea typeface="Arial"/>
                <a:cs typeface="Arial"/>
              </a:rPr>
              <a:t>конверсия в покупку, дополнительность оборота и маржинальный вклад.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4AF29-0942-4BE0-A8F2-015FA7E3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673"/>
                </a:solidFill>
                <a:latin typeface="Arial"/>
                <a:ea typeface="Arial"/>
                <a:cs typeface="Arial"/>
              </a:rPr>
              <a:t>Фото референса использованы для структуры. Его внутренние цифры не включены в расчёт.</a:t>
            </a:r>
          </a:p>
        </p:txBody>
      </p:sp>
    </p:spTree>
    <p:extLst>
      <p:ext uri="{BB962C8B-B14F-4D97-AF65-F5344CB8AC3E}">
        <p14:creationId xmlns:p14="http://schemas.microsoft.com/office/powerpoint/2010/main" val="397666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2026-09-29T18:12:00.6690000Z</dcterms:created>
  <dcterms:modified xsi:type="dcterms:W3CDTF">2026-09-29T18:12:00.6690000Z</dcterms:modified>
</coreProperties>
</file>