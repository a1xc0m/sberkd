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109b53e4247bb" /><Relationship Type="http://schemas.openxmlformats.org/officeDocument/2006/relationships/extended-properties" Target="/docProps/app.xml" Id="R945a0798a99a4884" /><Relationship Type="http://schemas.openxmlformats.org/officeDocument/2006/relationships/officeDocument" Target="/ppt/presentation.xml" Id="Rfbdd739b30aa4b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77112725f54ea9"/>
  </p:sldMasterIdLst>
  <p:notesMasterIdLst>
    <p:notesMasterId xmlns:r="http://schemas.openxmlformats.org/officeDocument/2006/relationships" r:id="R0fea3bdacf6e44a4"/>
  </p:notesMasterIdLst>
  <p:sldIdLst>
    <p:sldId xmlns:r="http://schemas.openxmlformats.org/officeDocument/2006/relationships" id="256" r:id="R37390dcc1144441f"/>
    <p:sldId xmlns:r="http://schemas.openxmlformats.org/officeDocument/2006/relationships" id="257" r:id="R16cb2c8711b249f1"/>
    <p:sldId xmlns:r="http://schemas.openxmlformats.org/officeDocument/2006/relationships" id="258" r:id="R4cb90818164d4a39"/>
    <p:sldId xmlns:r="http://schemas.openxmlformats.org/officeDocument/2006/relationships" id="259" r:id="R11506a3aaae648d2"/>
    <p:sldId xmlns:r="http://schemas.openxmlformats.org/officeDocument/2006/relationships" id="260" r:id="R901bd525a7994dfd"/>
    <p:sldId xmlns:r="http://schemas.openxmlformats.org/officeDocument/2006/relationships" id="261" r:id="R823ec4a88d8e4f2f"/>
    <p:sldId xmlns:r="http://schemas.openxmlformats.org/officeDocument/2006/relationships" id="262" r:id="R59b3932dafe24a21"/>
    <p:sldId xmlns:r="http://schemas.openxmlformats.org/officeDocument/2006/relationships" id="263" r:id="R725f5f281a304fdb"/>
    <p:sldId xmlns:r="http://schemas.openxmlformats.org/officeDocument/2006/relationships" id="264" r:id="Rab728dbf23774096"/>
    <p:sldId xmlns:r="http://schemas.openxmlformats.org/officeDocument/2006/relationships" id="265" r:id="Re99eddfe3ba94d7d"/>
    <p:sldId xmlns:r="http://schemas.openxmlformats.org/officeDocument/2006/relationships" id="266" r:id="Reefeeaf1468c4e0b"/>
    <p:sldId xmlns:r="http://schemas.openxmlformats.org/officeDocument/2006/relationships" id="267" r:id="R3485344f7d21416f"/>
    <p:sldId xmlns:r="http://schemas.openxmlformats.org/officeDocument/2006/relationships" id="268" r:id="R1888281cbc95488e"/>
    <p:sldId xmlns:r="http://schemas.openxmlformats.org/officeDocument/2006/relationships" id="269" r:id="Rc194e92d1a604e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e2b21c2be749d4" /><Relationship Type="http://schemas.openxmlformats.org/officeDocument/2006/relationships/slideMaster" Target="/ppt/slideMasters/slideMaster1.xml" Id="R5d77112725f54ea9" /><Relationship Type="http://schemas.openxmlformats.org/officeDocument/2006/relationships/notesMaster" Target="/ppt/notesMasters/notesMaster1.xml" Id="R0fea3bdacf6e44a4" /><Relationship Type="http://schemas.openxmlformats.org/officeDocument/2006/relationships/presProps" Target="/ppt/presProps.xml" Id="R109d0f78c777498e" /><Relationship Type="http://schemas.openxmlformats.org/officeDocument/2006/relationships/tableStyles" Target="/ppt/tableStyles.xml" Id="R26a88a7ada83481d" /><Relationship Type="http://schemas.openxmlformats.org/officeDocument/2006/relationships/slide" Target="/ppt/slides/slide1.xml" Id="R37390dcc1144441f" /><Relationship Type="http://schemas.openxmlformats.org/officeDocument/2006/relationships/slide" Target="/ppt/slides/slide2.xml" Id="R16cb2c8711b249f1" /><Relationship Type="http://schemas.openxmlformats.org/officeDocument/2006/relationships/slide" Target="/ppt/slides/slide3.xml" Id="R4cb90818164d4a39" /><Relationship Type="http://schemas.openxmlformats.org/officeDocument/2006/relationships/slide" Target="/ppt/slides/slide4.xml" Id="R11506a3aaae648d2" /><Relationship Type="http://schemas.openxmlformats.org/officeDocument/2006/relationships/slide" Target="/ppt/slides/slide5.xml" Id="R901bd525a7994dfd" /><Relationship Type="http://schemas.openxmlformats.org/officeDocument/2006/relationships/slide" Target="/ppt/slides/slide6.xml" Id="R823ec4a88d8e4f2f" /><Relationship Type="http://schemas.openxmlformats.org/officeDocument/2006/relationships/slide" Target="/ppt/slides/slide7.xml" Id="R59b3932dafe24a21" /><Relationship Type="http://schemas.openxmlformats.org/officeDocument/2006/relationships/slide" Target="/ppt/slides/slide8.xml" Id="R725f5f281a304fdb" /><Relationship Type="http://schemas.openxmlformats.org/officeDocument/2006/relationships/slide" Target="/ppt/slides/slide9.xml" Id="Rab728dbf23774096" /><Relationship Type="http://schemas.openxmlformats.org/officeDocument/2006/relationships/slide" Target="/ppt/slides/slide10.xml" Id="Re99eddfe3ba94d7d" /><Relationship Type="http://schemas.openxmlformats.org/officeDocument/2006/relationships/slide" Target="/ppt/slides/slide11.xml" Id="Reefeeaf1468c4e0b" /><Relationship Type="http://schemas.openxmlformats.org/officeDocument/2006/relationships/slide" Target="/ppt/slides/slide12.xml" Id="R3485344f7d21416f" /><Relationship Type="http://schemas.openxmlformats.org/officeDocument/2006/relationships/slide" Target="/ppt/slides/slide13.xml" Id="R1888281cbc95488e" /><Relationship Type="http://schemas.openxmlformats.org/officeDocument/2006/relationships/slide" Target="/ppt/slides/slide14.xml" Id="Rc194e92d1a604e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41323eb74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1155c3d624eb6" /><Relationship Type="http://schemas.openxmlformats.org/officeDocument/2006/relationships/notesMaster" Target="/ppt/notesMasters/notesMaster1.xml" Id="R6214f95b95ff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d341e95a02485b" /><Relationship Type="http://schemas.openxmlformats.org/officeDocument/2006/relationships/notesMaster" Target="/ppt/notesMasters/notesMaster1.xml" Id="R48a47313f8e2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07148751548b2" /><Relationship Type="http://schemas.openxmlformats.org/officeDocument/2006/relationships/notesMaster" Target="/ppt/notesMasters/notesMaster1.xml" Id="Rc0a6c06ffcce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4fe382f16d45ca" /><Relationship Type="http://schemas.openxmlformats.org/officeDocument/2006/relationships/notesMaster" Target="/ppt/notesMasters/notesMaster1.xml" Id="R3e42abbd0833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0b34f39ac455d" /><Relationship Type="http://schemas.openxmlformats.org/officeDocument/2006/relationships/notesMaster" Target="/ppt/notesMasters/notesMaster1.xml" Id="R0e92da90ff50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ba103525b4350" /><Relationship Type="http://schemas.openxmlformats.org/officeDocument/2006/relationships/notesMaster" Target="/ppt/notesMasters/notesMaster1.xml" Id="R76d244bfe0ad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9cb4c0468447bf" /><Relationship Type="http://schemas.openxmlformats.org/officeDocument/2006/relationships/notesMaster" Target="/ppt/notesMasters/notesMaster1.xml" Id="Rb9439b6646984a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10f39408e4077" /><Relationship Type="http://schemas.openxmlformats.org/officeDocument/2006/relationships/notesMaster" Target="/ppt/notesMasters/notesMaster1.xml" Id="R7bb31ba3b350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b7a47f3c664e27" /><Relationship Type="http://schemas.openxmlformats.org/officeDocument/2006/relationships/notesMaster" Target="/ppt/notesMasters/notesMaster1.xml" Id="R32e5c59814074b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a596e9d9fa4db8" /><Relationship Type="http://schemas.openxmlformats.org/officeDocument/2006/relationships/notesMaster" Target="/ppt/notesMasters/notesMaster1.xml" Id="Re712cbca5efb49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c1fdf3cd904b4a" /><Relationship Type="http://schemas.openxmlformats.org/officeDocument/2006/relationships/notesMaster" Target="/ppt/notesMasters/notesMaster1.xml" Id="Rcbb9940eb19141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7b9b2a8ef94ac6" /><Relationship Type="http://schemas.openxmlformats.org/officeDocument/2006/relationships/notesMaster" Target="/ppt/notesMasters/notesMaster1.xml" Id="R880378f9478a46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f7d9cdd3b74114" /><Relationship Type="http://schemas.openxmlformats.org/officeDocument/2006/relationships/notesMaster" Target="/ppt/notesMasters/notesMaster1.xml" Id="R421af64740f248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f2263887254b6d" /><Relationship Type="http://schemas.openxmlformats.org/officeDocument/2006/relationships/notesMaster" Target="/ppt/notesMasters/notesMaster1.xml" Id="R8cc00c0a303c41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25 секунд. Продукт связывает полезное дело ребёнка, игровую цель и покупку подарка взрослым. Изображение на обложке создано для демонстрационной презентации, не показывает реальных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гипотеза команды, а не как установленный статистический факт. СберKids уже имеет отдельные функции дел и копилок. Наш предмет проверки: нужен ли семье единый путь от задания к товару и решению взрослого.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Росстат, «Семья и дети в России 2024», раздел о семейных ячейках, https://rosstat.gov.ru/storage/2025/02-21/iKdrivYU/%D0%9E%D0%9F%D0%A0%D0%A4_%D1%81%D0%B5%D0%BC%D1%8C%D1%8F_%D0%B8_%D0%B4%D0%B5%D1%82%D0%B8_%D0%BA%D0%BE%D0%BD%D1%86%D0%B5%D0%BF%D1%86%D0%B8%D1%8F04_%D0%A1%D0%9C%D0%90%D0%A0%D0%A2.pdf ; Сбер, годовой отчёт 2024, страница 49, https://esg-library.mgimo.ru/upload/iblock/129/is8qrdzrqlm3j6r8ylcyzmgvtmgiayfx/Sberbank_AR_ESG_2024_RUS.pdf ; сообщение ПАО Сбербанк о результатах по РПБУ за 5 месяцев 2026, https://e-disclosure.azipi.ru/messages/4551199/ . 2,3 млн семей = 2,9 млн активных детей / 1,25 ребёнка на семью, округление. Коэффициент 1,25 — допущение, его нужно заменить внутренними данными. 15,5 млн включает семьи с детьми 0–5 лет, поэтому это лишь общерыночный ориентир, не точный TAM продукта 6–17. Подростки 14–17 не включены в оценку 2,3 млн.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показана ценность для трёх сторон. Не обещаем роста удержания или дохода как свершившегося факта. Эти показатели измеряются в пилоте с контрольной группой.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Существующие функции подтверждаются официальной страницей приложения: https://apps.sber.ru/apps/sberkids/ . Мы не выдаём задания или копилки как новое изобретение. Существенное отличие проектируемого продукта — завершение цикла с товаром, согласованием цели и взрослой покупкой, а также продолжение сценария в группе 14–17.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Отдельный запрос подарка не создаёт заказ и не списывает деньги. Перед оплатой взрослый проверяет текущую цену, наличие и доставку. Права бабушек и дедушек задаёт родитель; подтверждение выполнения остаётся за ним.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соответствуют product-spec.md. Текущий веб-прототип показывает больше демонстрационных механик, но промышленный MVP предлагается строить вокруг базового цикла. Все внешние интеграции и правовая модель должны быть подтверждены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показе переключить роли ребёнка и родителя. Прототип хранит данные локально в браузере и не подключён к СберKids, СберБанк Онлайн или Мегамаркету. Это проверка пользовательского сценария, а не готовая промышленная интеграция.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расчёт, не прогноз Сбера. Из 2,3 млн доступных семей 15% подключились к концу первого года = 345 тыс. В первом году средняя активная база принимается как половина конечной, 172,5 тыс. Покупка подарка у 45% активных семей за год, средний чек 5 500 ₽. Оборот: 172 500 × 45% × 5 500 = 426,9 млн ₽ за год 1; 345 000 × 45% × 5 500 = 853,9 млн ₽ за год 2. Считаем действительно дополнительными 60% оборота; вклад после переменных затрат — 8% от него. Разработка 18 млн ₽ разово, содержание 12 млн ₽ ежегодно. Год 1: 426,9 × 60% × 8% − 30 = −9,5 млн ₽. Год 2: 853,9 × 60% × 8% − 12 = +29,0 млн ₽. Совокупно за два года +19,5 млн ₽. Все коэффициенты, кроме 2,9 млн MAU, являются проектными допущениями. Распределение экономического эффекта между Мегамаркетом и банком требует коммерческого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 2,3 млн — оценка из публичного MAU СберKids 2,9 млн и допущения 1,25 активного ребёнка на семью. 15% — гипотеза конверсии, которую нужно проверить на пилоте и по фактическому воронке подключения. Это подключение к новому продукту существующих семей Сбера, не привлечение 345 тысяч новых для банка клиентов. Статистика 14–17 лет для расчёта недоступна в источниках, поэтому этот сегмент не прибавляли.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Осторожный сценарий второго года: 2,3 млн × 10% × 35% × 5 000 ₽ × 50% × 6% − 12 млн ₽ = 0,075 млн ₽, округлено до примерно нуля. Базовый сценарий: 2,3 млн × 15% × 45% × 5 500 ₽ × 60% × 8% − 12 млн ₽ = 28,986 млн ₽. Порог покрытия ежегодных затрат при базовом чеке, инкрементальности и марже: 12 000 000 / (5 500 × 0,60 × 0,08) = 45 455 покупок в год. Допущения требуют пилотной проверки, они не взяты из публичной отчётности.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Предлагается ограниченный пилот с контрольной группой. Внутренние продуктовые данные заменят коэффициент детей на семью, конверсию и показатель действительно дополнительного оборота. Проверка права взрослого на доступ и модели обработки детских данных обязательна до промышленного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Формулы слайда 9. 2,9 млн MAU: сообщение ПАО Сбербанк за май 2026 https://e-disclosure.azipi.ru/messages/4551199/ . Все остальные числа, включая размер семьи, конверсию, средний чек, дополнительность, маржу и расходы, — допущения финансовой модели, требующие верификации. Не включены затраты на полноценные интеграции СберЗвука, расширенного ИИ и сложные права родственников, если они войдут в промышленный объём.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Росстат, «Семья и дети в России 2024»: https://rosstat.gov.ru/storage/2025/02-21/iKdrivYU/%D0%9E%D0%9F%D0%A0%D0%A4_%D1%81%D0%B5%D0%BC%D1%8C%D1%8F_%D0%B8_%D0%B4%D0%B5%D1%82%D0%B8_%D0%BA%D0%BE%D0%BD%D1%86%D0%B5%D0%BF%D1%86%D0%B8%D1%8F04_%D0%A1%D0%9C%D0%90%D0%A0%D0%A2.pdf ; Сбер, годовой отчёт 2024, стр. 49: https://esg-library.mgimo.ru/upload/iblock/129/is8qrdzrqlm3j6r8ylcyzmgvtmgiayfx/Sberbank_AR_ESG_2024_RUS.pdf ; ПАО Сбербанк, раскрытие результатов за пять месяцев 2026: https://e-disclosure.azipi.ru/messages/4551199/ ; официальная страница приложения СберKids: https://apps.sber.ru/apps/sberkids/ . Публичные данные относятся к разным периодам и измеряют разные совокупности. Показатели из фотографий референса, включая 14,1 млн, 5,4 млн, 44%, +30% и CLTV, не приняты как проверенные данные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2dba99ec4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4a92ee9224cb2" /><Relationship Type="http://schemas.openxmlformats.org/officeDocument/2006/relationships/slideLayout" Target="/ppt/slideLayouts/slideLayout1.xml" Id="Rb084a61d67dc47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4a61d67dc47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9afe4e3eb49fa" /><Relationship Type="http://schemas.openxmlformats.org/officeDocument/2006/relationships/image" Target="/ppt/media/image.png" Id="Rcc15e57e6f0c4837" /><Relationship Type="http://schemas.openxmlformats.org/officeDocument/2006/relationships/notesSlide" Target="/ppt/notesSlides/notesSlide1.xml" Id="Rf9690a890084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748fe843042a4" /><Relationship Type="http://schemas.openxmlformats.org/officeDocument/2006/relationships/notesSlide" Target="/ppt/notesSlides/notesSlide2.xml" Id="Rdf17e1439ce5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70ffa4554ff2" /><Relationship Type="http://schemas.openxmlformats.org/officeDocument/2006/relationships/notesSlide" Target="/ppt/notesSlides/notesSlide3.xml" Id="Rb0cb21fcafac42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defe603984e87" /><Relationship Type="http://schemas.openxmlformats.org/officeDocument/2006/relationships/notesSlide" Target="/ppt/notesSlides/notesSlide4.xml" Id="R2b66b2d8c70843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34676e84c49db" /><Relationship Type="http://schemas.openxmlformats.org/officeDocument/2006/relationships/notesSlide" Target="/ppt/notesSlides/notesSlide5.xml" Id="Rb882313eecdf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fe2e4697c47da" /><Relationship Type="http://schemas.openxmlformats.org/officeDocument/2006/relationships/notesSlide" Target="/ppt/notesSlides/notesSlide6.xml" Id="Rc7306cbe7ec849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ce7d9364445cc" /><Relationship Type="http://schemas.openxmlformats.org/officeDocument/2006/relationships/notesSlide" Target="/ppt/notesSlides/notesSlide7.xml" Id="R3e5dde2b60b746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384382f7646be" /><Relationship Type="http://schemas.openxmlformats.org/officeDocument/2006/relationships/image" Target="/ppt/media/image2.png" Id="Rf74470f49b2f40e8" /><Relationship Type="http://schemas.openxmlformats.org/officeDocument/2006/relationships/notesSlide" Target="/ppt/notesSlides/notesSlide8.xml" Id="Rfe308a459f2d4c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d6a58285d4881" /><Relationship Type="http://schemas.openxmlformats.org/officeDocument/2006/relationships/notesSlide" Target="/ppt/notesSlides/notesSlide9.xml" Id="Rf1aaeb03e51a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e25ca38ee457e" /><Relationship Type="http://schemas.openxmlformats.org/officeDocument/2006/relationships/notesSlide" Target="/ppt/notesSlides/notesSlide10.xml" Id="Rd0a9fb2093054d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091d15d9d4d01" /><Relationship Type="http://schemas.openxmlformats.org/officeDocument/2006/relationships/notesSlide" Target="/ppt/notesSlides/notesSlide11.xml" Id="R5a34bc54a6d844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c8e4b12d94b70" /><Relationship Type="http://schemas.openxmlformats.org/officeDocument/2006/relationships/notesSlide" Target="/ppt/notesSlides/notesSlide12.xml" Id="R14f9c5dad7e843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3a3edba894a70" /><Relationship Type="http://schemas.openxmlformats.org/officeDocument/2006/relationships/notesSlide" Target="/ppt/notesSlides/notesSlide13.xml" Id="Rb31ee715f3ed42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f00f99bcf46d1" /><Relationship Type="http://schemas.openxmlformats.org/officeDocument/2006/relationships/notesSlide" Target="/ppt/notesSlides/notesSlide14.xml" Id="Rbbc93d618a21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5e57e6f0c48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A6C46-CEAE-43AA-A405-09FE354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85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СЕМЕЙНЫЙ</a:t>
            </a:r>
          </a:p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КОНСТРУКТОР</a:t>
            </a:r>
          </a:p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ЦЕЛЕЙ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C7E2-4F48-4570-9E97-B10F17A6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КОТИКСЫ &amp; СБЕРСЫ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E4F66-E715-407F-864C-2D7DF42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СберKids 6–13 лет  /  СберБанк Онлайн 14–17 лет</a:t>
            </a:r>
          </a:p>
        </p:txBody>
      </p:sp>
    </p:spTree>
    <p:extLst>
      <p:ext uri="{BB962C8B-B14F-4D97-AF65-F5344CB8AC3E}">
        <p14:creationId xmlns:p14="http://schemas.microsoft.com/office/powerpoint/2010/main" val="1854180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89B3-91DA-4A13-B2B7-78491D98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КАКУЮ ПРОБЛЕМУ РЕШАЕМ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874A3-2046-4427-ADD7-D229C48D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1A3A9-125A-44E4-B0D3-C084B7F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ЖЕЛАНИЕ РЕБЁНКА, ДОГОВОРЁННОСТЬ О ДЕЛАХ</a:t>
            </a:r>
          </a:p>
          <a:p xmlns:a="http://schemas.openxmlformats.org/drawingml/2006/main">
            <a:pPr>
              <a:defRPr sz="27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И ПОКУПКА ПОДАРКА ЖИВУТ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6B078-A165-4236-8587-F09FF44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7A4F-B43A-4BD8-A26B-64C6AA96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90BC8-952A-466D-8CAA-6CC0FC14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623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Ребёнок не видит понятного пути от усилия к выбранной вещи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10B7E-87CC-4EF4-AF2A-BDD43AC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55A4-9228-46C6-9209-345A523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148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Родитель вручную договаривается, считает прогресс и контролирует 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9AC92-6EE5-49DC-A0FB-D0BD5354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B4519-3D45-4C08-9B75-A4BE313B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2673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После 14 лет семье нужен такой же общий сценарий в СберБанк Онлайн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34A1F-8891-4D23-947D-4786735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Продуктовая гипотеза. Её проверит исследование семей и пилот.</a:t>
            </a:r>
          </a:p>
        </p:txBody>
      </p:sp>
    </p:spTree>
    <p:extLst>
      <p:ext uri="{BB962C8B-B14F-4D97-AF65-F5344CB8AC3E}">
        <p14:creationId xmlns:p14="http://schemas.microsoft.com/office/powerpoint/2010/main" val="1079373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7505A-56BF-4AB5-93F0-5EE106F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КОГО МОЖЕМ ПРИВЛЕЧЬ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4065E-3414-48F8-B115-25143F32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460C9-ED48-4947-859D-9A09269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15,5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05989-4C59-4847-B284-1E033873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906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семейных ячеек с детьми младше 18 лет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1091-310A-4883-AC84-7E450B2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050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Росстат, перепись 2020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451EF-4E72-4764-A200-354D60D4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BDA18-8601-4FE6-AD2A-BAEFE79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&gt;4,3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BF66E-D360-4E6F-B09D-CBE290C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241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активных клиентов Сбера 6–13 лет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2D5EA-6D9E-46FA-8D92-2D48B4D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385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годовой отчёт Сбера за 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0E6F7-E28A-44F5-A727-6A31D4EE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971BF-AE60-43A6-8607-115C8F7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2,9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6F43-AE15-4061-A163-71D0EDD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576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MAU приложения СберKids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E2D50-9214-4960-9510-0D600C0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720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отчёт Сбера за май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C1B1-0CE1-4CCD-A0AD-560470C9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≈2,3 млн семей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7FA94-AAF5-4C52-8AC4-8CFCC0D2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57850"/>
            <a:ext cx="708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оценка доступной аудитории: 2,9 млн MAU / 1,25 ребёнка на семью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962D9-D24A-4062-AB80-2CA7DFCE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960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Показатели измеряют разные группы; оценка семей использует допущение.</a:t>
            </a:r>
          </a:p>
        </p:txBody>
      </p:sp>
    </p:spTree>
    <p:extLst>
      <p:ext uri="{BB962C8B-B14F-4D97-AF65-F5344CB8AC3E}">
        <p14:creationId xmlns:p14="http://schemas.microsoft.com/office/powerpoint/2010/main" val="1928357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0D473-2670-4C8C-A45E-0715977B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ЗАЧЕМ ЭТО СЕМЬЕ И СБЕРУ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C7A6D-412A-4FF0-A3B8-8D656D6A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11CAE-2E89-4448-8571-BEE4151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РЕБЁНКУ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F2DCD-07E0-4710-B339-1082522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Видимый прогресс к подарку, который он выбрал сам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D0014-DC52-47D5-99F0-8C0C77A0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90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60703-4FFA-497B-92DC-6BBC0554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РОДИТЕЛЮ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A544F-A00B-4160-A623-92B730C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Правила, лимиты и окончательное решение о покупке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1A1D3-E2DF-4606-8ADA-2952FDD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1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A50D4-D122-43BD-BC8B-F4A756BB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СБЕРУ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01E88-C69F-4F8C-BF91-55C0F406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Больше осмысленных семейных действий в действующих каналах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58FB5-64C3-4F2E-8131-B9B7EDAB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Эффект для удержания пока не монетизируем: нужна контрольная группа.</a:t>
            </a:r>
          </a:p>
        </p:txBody>
      </p:sp>
    </p:spTree>
    <p:extLst>
      <p:ext uri="{BB962C8B-B14F-4D97-AF65-F5344CB8AC3E}">
        <p14:creationId xmlns:p14="http://schemas.microsoft.com/office/powerpoint/2010/main" val="887555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8C94D-AAEF-40EA-8EFA-5305618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ИНСАЙТЫ ДЛЯ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AFDB6-FB20-40D9-AD19-BE614F1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1EA85-7753-4775-93A0-B379A13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28775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28E63-90FC-4278-A71E-C01599A9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906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В СберKids уже есть «дела» и «копилки»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5C41B-2DD1-487C-A056-C6E4E601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Новизна в общей цели из Мегамаркета и покупке взрослым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3CCF3-9EC9-4F3D-BB5E-55B60E76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79E50-D8C6-4BC8-AC17-B19693E1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66A6D-F188-4657-99C6-0680704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908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сохраняет право последнего решения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39824-C25D-4E5A-83B0-C9061DD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95675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Игровые баллы не равны рублям и не списывают деньги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7849C-E4F2-4C4F-A012-5C9C312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E984-792F-4909-A475-058B0FCC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6C039-84D6-4102-ADFD-3C307F89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91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Для подростка меняется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E9CEF-FA5E-493E-A232-43689BE7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95850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Семейная логика продолжается после 14 лет</a:t>
            </a:r>
          </a:p>
        </p:txBody>
      </p:sp>
    </p:spTree>
    <p:extLst>
      <p:ext uri="{BB962C8B-B14F-4D97-AF65-F5344CB8AC3E}">
        <p14:creationId xmlns:p14="http://schemas.microsoft.com/office/powerpoint/2010/main" val="413706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8CFC1-588D-4773-8BD4-8F712DCF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КАК РАБОТАЕТ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94575-41CF-4B65-9ADF-34E442B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21CA7-5433-4C96-9EAE-CA91BEE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DBD0E-2C09-40B2-AB41-5FCD521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525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ЗАДАНИЕ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836E1-6642-4881-8F4E-AD5C6C73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811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задаёт дело и награду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CEB4-700F-4471-8377-0BDD417D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492C5-B50E-4454-829F-62040FB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BECD9-3A8B-4C7E-9F18-6ADCAEA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Родитель принимает 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0693B-D68E-4057-BB73-FB971F9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EE7A2-898D-498F-8A56-703A4E1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E80DF-3080-4A0E-B842-EF42F87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Ребёнок выбирает товар, взрослый одобряет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736AD-1AF0-4992-A02E-F625E0F8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39EA9-4940-4883-B127-0B82E75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ПРОГРЕСС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454F6-98C8-4F45-858A-0E07037C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Котиксы или Сберсы копятся до порога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34EF5-A287-48A7-A6C3-5602535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5019E-47C2-4A5B-BE77-7A07611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ПОДАРОК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A40E6-E977-4136-A6F0-4C87CDC7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387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проверяет заказ и оплачивает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DC674-44AB-43B1-965B-6051C0CE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Игровые единицы не выводятся и не служат средством оплаты.</a:t>
            </a:r>
          </a:p>
        </p:txBody>
      </p:sp>
    </p:spTree>
    <p:extLst>
      <p:ext uri="{BB962C8B-B14F-4D97-AF65-F5344CB8AC3E}">
        <p14:creationId xmlns:p14="http://schemas.microsoft.com/office/powerpoint/2010/main" val="996070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77CBC-48C6-4E2D-8A43-18C3933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ЧТО ВХОДИТ В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18FC1-AC71-4AC1-8AC2-E2C0C09B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A7E89-BB29-48BF-A698-758CE87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76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6–13 ЛЕТ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D4771-07DB-4B45-863D-343D76B7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667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СберKids</a:t>
            </a:r>
          </a:p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Котиксы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F2F73-0AF2-40AC-BD6E-934555B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76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14–17 ЛЕТ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EA21F-0E5D-4250-8E2D-2B30A06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667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СберБанк Онлайн</a:t>
            </a:r>
          </a:p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02BB8-B09D-4EED-BAC7-9B2AFA4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A9A-467F-44A2-8AFD-1141ABFE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ОБЩЕЕ ЯДРО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F00F9-8C84-42C4-9529-975E7624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Задание, подтверждение, баланс, цель, прогресс и запрос подарка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9D53A-C90D-4954-9792-D92C5149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После MVP: доступ родственников, СберЗвук, игровой вклад и ИИ-наставник.</a:t>
            </a:r>
          </a:p>
        </p:txBody>
      </p:sp>
    </p:spTree>
    <p:extLst>
      <p:ext uri="{BB962C8B-B14F-4D97-AF65-F5344CB8AC3E}">
        <p14:creationId xmlns:p14="http://schemas.microsoft.com/office/powerpoint/2010/main" val="210214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DC3E5-23A6-4DC5-9845-F4A86E39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A7E44-6FD0-4BEC-A9FA-9CE5F91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470f49b2f40e8"/>
          <a:stretch xmlns:a="http://schemas.openxmlformats.org/drawingml/2006/main"/>
        </p:blipFill>
        <p:spPr>
          <a:xfrm xmlns:a="http://schemas.openxmlformats.org/drawingml/2006/main">
            <a:off x="1052513" y="1438275"/>
            <a:ext cx="6934200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AE40-9AC4-4148-873E-400F6E2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УЖЕ МОЖНО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AA27F-7290-4688-B402-A21B5F9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8384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Пройти цикл задания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Проверить роль родителя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Выбрать цель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Увидеть прогресс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2E322-47D4-44C0-953A-28831C6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29225"/>
            <a:ext cx="2800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Демо работает локально. Реальных заказов и платежей нет.</a:t>
            </a:r>
          </a:p>
        </p:txBody>
      </p:sp>
    </p:spTree>
    <p:extLst>
      <p:ext uri="{BB962C8B-B14F-4D97-AF65-F5344CB8AC3E}">
        <p14:creationId xmlns:p14="http://schemas.microsoft.com/office/powerpoint/2010/main" val="549515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03A28-C8B6-4770-B709-0A4FF8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ЭКОНОМИЧЕСКИЙ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0EF5D-667F-4B38-86B2-D37FD13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640BE-8ACA-493C-9F07-E047C46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БАЗОВЫЙ СЦЕНАРИЙ: ОКУПАЕМОСТЬ ВО ВТОРОЙ ГОД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95325" y="2028825"/>
          <a:ext xmlns:a="http://schemas.openxmlformats.org/drawingml/2006/main" cx="1057275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810250"/>
                <a:gridCol w="2333625"/>
                <a:gridCol w="2428875"/>
              </a:tblGrid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Год 1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Год 2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Среднее число активных семей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173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345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Покупки подарков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78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155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Оборот подарков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427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854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Дополнительный оборот¹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256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512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Вклад после переменных затрат²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20,5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41,0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Разработка + содержание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30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12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Итог периода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−9,5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+29,0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B26E0-4CAE-4142-A1AB-F3C56C8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601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¹ 60% оборота считаем дополнительным. ² 8% от дополнительного оборота; это допущения.</a:t>
            </a:r>
          </a:p>
        </p:txBody>
      </p:sp>
    </p:spTree>
    <p:extLst>
      <p:ext uri="{BB962C8B-B14F-4D97-AF65-F5344CB8AC3E}">
        <p14:creationId xmlns:p14="http://schemas.microsoft.com/office/powerpoint/2010/main" val="889097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399E-EB33-4A0F-8CB7-BAE0942A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СКОЛЬКО СЕМЕЙ ПОДКЛЮЧИТСЯ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BFB2A-CF84-4BE2-8AAF-0CCBDFD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FAC6D-F381-4856-BC07-E450ECD4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571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2,3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611B4-90D6-4DE5-82C1-3A1F7702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28775"/>
            <a:ext cx="683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доступных семей в СберKids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1C534-5F42-4D8F-BDBF-E5588F9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8B6EC-8EC2-4A57-8644-C9F59122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3114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1E2BA-CF0C-4AA9-BA6A-F74086F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67913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принятое допущение о подключении</a:t>
            </a:r>
          </a:p>
          <a:p xmlns:a="http://schemas.openxmlformats.org/drawingml/2006/main">
            <a:pPr>
              <a:defRPr sz="21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к концу первого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8DBC-3A49-462A-B5EF-B27AA6AC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03488-C1E7-46D1-A0EF-B0C8F10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≈345 тыс.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7BD42-696F-4385-A53D-09E18FA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 с активной целью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1E171-C65E-4600-9D5B-70A7F8C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Подростков 14–17 лет в расчёт не включали. Охват уточним по внутренним связям «родитель — ребёнок».</a:t>
            </a:r>
          </a:p>
        </p:txBody>
      </p:sp>
    </p:spTree>
    <p:extLst>
      <p:ext uri="{BB962C8B-B14F-4D97-AF65-F5344CB8AC3E}">
        <p14:creationId xmlns:p14="http://schemas.microsoft.com/office/powerpoint/2010/main" val="1699418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3AF4C-E20C-4FF7-9C25-FAF6CC1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ЧУВСТВИТЕЛЬНОСТЬ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F76C7-31D5-41BF-A81C-74C1A3E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14375" y="1504950"/>
          <a:ext xmlns:a="http://schemas.openxmlformats.org/drawingml/2006/main" cx="10572750" cy="38195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715000"/>
                <a:gridCol w="2428875"/>
                <a:gridCol w="2428875"/>
              </a:tblGrid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Осторожный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Базовый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Подключение семей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Доля семей с покупкой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Средний чек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5 000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5 500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Дополнительная доля оборота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Маржинальный вклад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во 2-й год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≈0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+29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6E5C-F704-406B-A2A4-48B00FF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33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Порог покрытия годовых затрат 12 млн ₽: около 46 тыс. покупок в год при базовых параметрах.</a:t>
            </a:r>
          </a:p>
        </p:txBody>
      </p:sp>
    </p:spTree>
    <p:extLst>
      <p:ext uri="{BB962C8B-B14F-4D97-AF65-F5344CB8AC3E}">
        <p14:creationId xmlns:p14="http://schemas.microsoft.com/office/powerpoint/2010/main" val="1247860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09018-BED2-4983-A8BC-11C0D31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ЧТО ПРОВЕРЯЕМ В ПИЛОТЕ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BF29F-9B7F-497E-B62B-3215DFDF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C482-5940-4631-BC45-C48360D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3EF24-F0D4-4CBA-A4DC-A2F7FB9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Доля подключившихся семей и первая одобренная 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947C-B7F2-4523-957D-F1567F45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47F8A-D45A-48F0-8F5C-F4262DC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ПОВЕДЕНИЕ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C33C4-1392-42F9-A6C7-4E2B42A4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Завершённые задания, достижение цели и запрос подарка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B53EA-5873-4626-894F-75816006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23D71-3237-4C21-926B-DECDAEB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ДЕНЬГИ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1F15E-B088-4902-AF55-B550E3A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67150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Дополнительные заказы против контрольной группы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2E58B-C55F-4959-B466-CAFF01B8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189C2-795C-46F5-96DB-A3B9ED0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591B4-0650-452F-AE0C-D66DE5F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81575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Понимание игровых баллов и добровольности покупки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B7705-F560-43A6-8CCB-0FF33D7D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62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Для решения о запуске нужны фактическая конверсия, маржа и стоимость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7595393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23D2-C571-4735-8961-0E12D55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ПРИЛОЖЕНИЕ: ФОРМУЛА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28C57-316D-4C02-9D9A-4B48BD1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0ECFD-FC90-4D51-9F45-49C4239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Доступные семьи = 2,9 млн MAU / 1,25 = 2,3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FA1CE-77D0-41EA-9110-B4C7CC4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Год 2: 2,3 млн × 15% × 45% × 5 500 ₽ = 854 млн ₽ оборота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9FB4-4041-4C86-9689-862F0E4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854 млн ₽ × 60% × 8% = 41 млн ₽ вклада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9BF9F-7D4D-4636-94D6-FAE65C9D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767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41 млн ₽ − 12 млн ₽ содержания = 29 млн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10F1-EB2D-42F8-AB51-FC08C66E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Первый год включает 18 млн ₽ разработки. При плавном наборе аудитории итог первого года ≈ −9,5 млн ₽.</a:t>
            </a:r>
          </a:p>
        </p:txBody>
      </p:sp>
    </p:spTree>
    <p:extLst>
      <p:ext uri="{BB962C8B-B14F-4D97-AF65-F5344CB8AC3E}">
        <p14:creationId xmlns:p14="http://schemas.microsoft.com/office/powerpoint/2010/main" val="1170745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8CAC2-6B28-41F5-B517-475474FB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ПРИЛОЖЕНИЕ: ИСТОЧНИКИ И ПРЕДЕЛЫ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CAA4A-8586-40FD-8503-F557F794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D7C71-B939-477D-90C6-47E4CBD2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ПУБЛИЧНЫЕ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4AA59-A11D-46B2-872D-FD7745C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57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Росстат: 15,5 млн семейных ячеек с детьми до 18 лет, перепись 2020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Сбер: &gt;4,3 млн активных клиентов 6–13 лет, годовой отчёт 2024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Сбер: 2,9 млн MAU СберKids, май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79632-E864-4D68-9A00-AE691F3E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B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184F9-6519-469D-9DBE-E2B0579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ТРЕБУЮТ ВНУТРЕННЕЙ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F2B2D-4612-45EA-B082-86D7EAF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572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Число семей за детскими аккаунтами, доля подростков,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конверсия в покупку, дополнительность оборота и маржинальный вклад.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513BB-7D19-467C-A629-B317CA87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Фото референса использованы для структуры. Его внутренние цифры не включены в расчёт.</a:t>
            </a:r>
          </a:p>
        </p:txBody>
      </p:sp>
    </p:spTree>
    <p:extLst>
      <p:ext uri="{BB962C8B-B14F-4D97-AF65-F5344CB8AC3E}">
        <p14:creationId xmlns:p14="http://schemas.microsoft.com/office/powerpoint/2010/main" val="863725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2026-09-29T17:29:31.4860000Z</dcterms:created>
  <dcterms:modified xsi:type="dcterms:W3CDTF">2026-09-29T17:29:31.4860000Z</dcterms:modified>
</coreProperties>
</file>